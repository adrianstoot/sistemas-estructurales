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329" r:id="rId2"/>
    <p:sldId id="340" r:id="rId3"/>
    <p:sldId id="310" r:id="rId4"/>
    <p:sldId id="315" r:id="rId5"/>
    <p:sldId id="317" r:id="rId6"/>
    <p:sldId id="319" r:id="rId7"/>
    <p:sldId id="259" r:id="rId8"/>
    <p:sldId id="270" r:id="rId9"/>
    <p:sldId id="271" r:id="rId10"/>
    <p:sldId id="260" r:id="rId11"/>
    <p:sldId id="264" r:id="rId12"/>
    <p:sldId id="265" r:id="rId13"/>
    <p:sldId id="266" r:id="rId14"/>
    <p:sldId id="267" r:id="rId15"/>
    <p:sldId id="268" r:id="rId16"/>
    <p:sldId id="263" r:id="rId17"/>
    <p:sldId id="269" r:id="rId18"/>
    <p:sldId id="312" r:id="rId19"/>
    <p:sldId id="314" r:id="rId20"/>
    <p:sldId id="326" r:id="rId21"/>
    <p:sldId id="321" r:id="rId22"/>
    <p:sldId id="322" r:id="rId23"/>
    <p:sldId id="323" r:id="rId24"/>
    <p:sldId id="313" r:id="rId25"/>
    <p:sldId id="325" r:id="rId26"/>
    <p:sldId id="330" r:id="rId27"/>
    <p:sldId id="328" r:id="rId28"/>
    <p:sldId id="327" r:id="rId29"/>
    <p:sldId id="331" r:id="rId30"/>
    <p:sldId id="324" r:id="rId31"/>
    <p:sldId id="334" r:id="rId32"/>
    <p:sldId id="335" r:id="rId33"/>
    <p:sldId id="336" r:id="rId34"/>
    <p:sldId id="333" r:id="rId35"/>
    <p:sldId id="337" r:id="rId36"/>
    <p:sldId id="338" r:id="rId37"/>
    <p:sldId id="332" r:id="rId38"/>
    <p:sldId id="305" r:id="rId39"/>
    <p:sldId id="262" r:id="rId40"/>
    <p:sldId id="289" r:id="rId41"/>
    <p:sldId id="345" r:id="rId42"/>
    <p:sldId id="306" r:id="rId43"/>
    <p:sldId id="344" r:id="rId44"/>
    <p:sldId id="308" r:id="rId45"/>
    <p:sldId id="307" r:id="rId46"/>
    <p:sldId id="342" r:id="rId47"/>
    <p:sldId id="343" r:id="rId48"/>
    <p:sldId id="291" r:id="rId49"/>
    <p:sldId id="341" r:id="rId5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CEAF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4C03A-F78C-4C39-8536-5D0EE577230F}" v="475" dt="2025-07-14T12:14:40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9T11:20:5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680 307 24575,'-37'-40'0,"-91"-89"0,104 108 0,-1 0 0,0 2 0,-44-26 0,59 40 0,1 1 0,-1-1 0,0 1 0,-1 1 0,1 0 0,-1 1 0,1 0 0,-1 0 0,0 1 0,0 1 0,1-1 0,-1 2 0,0 0 0,0 0 0,1 1 0,-1 0 0,1 1 0,-1 0 0,1 0 0,0 1 0,0 1 0,1 0 0,-1 0 0,1 1 0,0 0 0,1 0 0,-1 1 0,1 0 0,0 1 0,1 0 0,0 0 0,0 1 0,1-1 0,0 1 0,1 1 0,0-1 0,0 1 0,-4 11 0,6-10 0,0 0 0,0 1 0,1-1 0,0 1 0,1-1 0,0 1 0,1-1 0,0 1 0,1-1 0,0 1 0,1-1 0,0 1 0,1-1 0,1 0 0,-1 0 0,2 0 0,-1 0 0,2-1 0,-1 0 0,1 0 0,11 14 0,-6-12 0,-1-1 0,1 0 0,1-1 0,0 0 0,0-1 0,1 0 0,1 0 0,-1-2 0,1 0 0,0 0 0,1-1 0,-1-1 0,1-1 0,0 0 0,25 3 0,-25-5 0,-1 0 0,1-2 0,0 0 0,0 0 0,0-1 0,0-1 0,0-1 0,-1 0 0,20-7 0,-26 7 0,0-1 0,0 0 0,0-1 0,-1 1 0,0-1 0,0-1 0,0 0 0,0 1 0,-1-2 0,0 1 0,-1-1 0,1 0 0,-1 0 0,0-1 0,-1 1 0,0-1 0,3-9 0,24-72 120,-29 81-285,-1 0 0,1 0 0,-2-1 0,1 1 0,-1-1 0,0 1 0,-1 0 0,-2-17 0,-8-6-6661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9T11:20:5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1 24575,'-10'0'0,"-9"5"0,-17 2 0,-7 4 0,-2 7 0,-9 5 0,-16 3 0,-6 8 0,-1 4 0,3 0 0,2-1 0,5 4 0,7-1 0,14-6-8191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9T11:20:5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24575,'5'11'0,"7"8"0,12 11 0,13 17 0,25 20 0,23 10 0,8 3 0,-7 2 0,-13-7 0,-8-6 0,-16-15-8191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EE1D1-788D-4EAC-89CD-49F3630C3318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09591-83D5-4F92-8ED0-C644DC30BF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111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62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180C-DA52-DD75-C742-9A559512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EFD390-D108-D475-A84E-E910368EF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1F810A-AA18-DFE9-DFA2-D018E127F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C78A9B-4FB4-05BE-E189-C39E0ABE3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397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70E0-CC62-1336-DEB6-9AC65564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E5CB64-F715-80E5-1EFE-8879D10BF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1502E3-471E-662E-F648-4429D8CC1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6E4C28-C0BF-351E-3B41-6D84CBC93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092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2E3C-7B0D-3FE3-12A5-9033E637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A217B6-6FDF-E593-8555-9A4D621E1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F96B21-7770-0197-C537-4981E9F0F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956181-0845-18E6-B433-1BE978F08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645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69A5-894B-BB28-379F-CF0850B8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CD567A-0D8E-3C32-FC97-713F5124B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7F9EAC-F9BA-B755-B766-E64DE711F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B9948-FBF2-C12B-2C9B-4D8C9A361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388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3C6F-D533-BB8E-7BBB-2AD4798C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BE9DAE-14E4-7732-A86C-E7196F9D3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194E73-AE13-DF5D-EF60-B93AC061D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503655-6CF3-B128-F007-7A53ED59F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6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1A56-00BC-A0F2-F447-36B713F9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E0CC70-2C18-4F59-5D8A-5019EC140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7F4D8D-D120-E401-C4D0-296E4C8C2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A13318-E23F-1292-2BC3-DFBDE2659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9276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DE8D-6702-C59E-FC0A-BB3962D5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1A4B04-6E8E-ABF5-E6F4-08B5BE506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36D09E-9969-A149-556B-7CF512C04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D50EEE-DE4C-EC2B-C1CC-12164EFE5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8725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0B64-D82B-CA1A-DBB0-0F50DD5E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91546D-8630-F907-6C04-8E10DCA16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379C62-A142-C058-B1B1-68450F378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21661C-7B14-0B83-1CF4-3A49DD673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759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5E2C-3284-9F88-390C-EC3AD5A3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799199-1272-7B9C-525E-75FC75C80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B0FE3B-63AD-9C7C-1F3E-92FE136B8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ABD7F-D52F-DAB5-628E-EF8A31EC3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09591-83D5-4F92-8ED0-C644DC30BFB3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320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Marcador de imagen de diapositiva">
            <a:extLst>
              <a:ext uri="{FF2B5EF4-FFF2-40B4-BE49-F238E27FC236}">
                <a16:creationId xmlns:a16="http://schemas.microsoft.com/office/drawing/2014/main" id="{9E929972-B0C0-CD9E-84AE-24FD5A5D32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2 Marcador de notas">
            <a:extLst>
              <a:ext uri="{FF2B5EF4-FFF2-40B4-BE49-F238E27FC236}">
                <a16:creationId xmlns:a16="http://schemas.microsoft.com/office/drawing/2014/main" id="{EECF3D5C-48E5-E902-53C3-CFEACAEFC5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49156" name="3 Marcador de número de diapositiva">
            <a:extLst>
              <a:ext uri="{FF2B5EF4-FFF2-40B4-BE49-F238E27FC236}">
                <a16:creationId xmlns:a16="http://schemas.microsoft.com/office/drawing/2014/main" id="{28EE6CD8-3C44-9796-4E75-59D53E236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51973C-9838-4432-A9BC-8F8756EF38CE}" type="slidenum">
              <a:rPr lang="es-ES" altLang="es-E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s-ES" altLang="es-E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B5A7-D1D1-0709-E3B9-F460F780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Marcador de imagen de diapositiva">
            <a:extLst>
              <a:ext uri="{FF2B5EF4-FFF2-40B4-BE49-F238E27FC236}">
                <a16:creationId xmlns:a16="http://schemas.microsoft.com/office/drawing/2014/main" id="{C57C9750-2B42-A52E-75CD-20DCF34A68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2 Marcador de notas">
            <a:extLst>
              <a:ext uri="{FF2B5EF4-FFF2-40B4-BE49-F238E27FC236}">
                <a16:creationId xmlns:a16="http://schemas.microsoft.com/office/drawing/2014/main" id="{F45B1EBC-5B43-E30E-02E5-2B4E99B1A3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ES" altLang="es-ES"/>
          </a:p>
        </p:txBody>
      </p:sp>
      <p:sp>
        <p:nvSpPr>
          <p:cNvPr id="49156" name="3 Marcador de número de diapositiva">
            <a:extLst>
              <a:ext uri="{FF2B5EF4-FFF2-40B4-BE49-F238E27FC236}">
                <a16:creationId xmlns:a16="http://schemas.microsoft.com/office/drawing/2014/main" id="{A6548402-AC25-C886-FDFF-D5A081F5A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51973C-9838-4432-A9BC-8F8756EF38CE}" type="slidenum">
              <a:rPr lang="es-ES" altLang="es-E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s-ES" alt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51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B81A2-AFCC-797D-FB51-0ED5D1A81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D37266-232F-E0C5-6C6B-C376B8761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725BC0-0140-9994-7506-4B2B3F1E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CD4324-7130-304C-B1AB-FE3DFE47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E6A130-4908-CFDF-F53A-25E5DBF0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449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BFED3-2D18-4D5F-974F-154E6451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6ADAD0-53AF-6478-B3D0-F0F4D77C9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7A43B1-0BA5-BC89-7403-3043A75C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82978D-9859-AC0F-27EC-A21424FC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C2202-62B2-4FC9-6282-A1396BE7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508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81900-44BD-EEF3-E8CE-47C1EB89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9CED23-B145-6D4D-5A0D-F7E020496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9A8FE-291C-789B-7B8A-26031EE4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B18842-C1A7-232F-6F3C-5C22ACF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2EAC40-42B3-9BDB-083F-FC2F6B40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44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5E97A-5A88-55DE-6E52-5A216C73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507B1F-71F0-4DEB-1C29-02D39F488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112CE9-8ABC-F391-B4CF-5CCC68669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BC3E0-CDE6-8F62-8F4B-466D0D31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C8137-B34A-BD91-F19A-CD02AFA5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47F8C-729B-B68F-DBF2-352D2E59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33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EEECA-9DEA-20D5-42D1-FD9C79B33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9E2462-1CF6-39F7-A3C1-6AEB0BC9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61340D-4CB3-2F50-23FB-0A94ACAAE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BE968D-9A4A-77DB-84E5-F2DB903FB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36F0BA-AF05-8547-70D2-98D6719D3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43D122-0439-7F07-9167-CF51B028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1C7D8D-126A-490C-CCD5-A3A394F2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D9BB54-484F-D946-42C0-0D95962E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22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86612-4279-6A96-D34D-4EF7AAE3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746A8A-6847-6DBF-6270-F7DF3B75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4A24A5-A237-08FB-43A9-B7B67DED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81F809-FD20-91A8-83F6-3D1F023D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471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FD27D2-8F1B-8DD0-0D67-D29F6F5C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A416FB-B56E-0164-CA2E-9AD3CB41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F31352-87B3-EAAB-92BD-1576781A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17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403CA-6AD7-B703-B997-A6219F27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F2E6F-F048-70DC-3BC9-31731B84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CF61F9-656D-3431-04FB-1FC017C76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57B45F-33C2-7DDA-4AEE-079D0747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C9D8AD-7CFC-5F34-0351-F986D534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96BC61-9D5E-375C-D43B-DAF650BD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438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EC29D-08F6-F405-6058-2D4357D5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DBAB2F-60D8-9FD1-D031-0EB1C3DC1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A1C6C9-FF2F-095D-48D4-11B48554A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5657BE-C03E-7D9A-6B83-D3D77410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7B7BB0-3AA3-A5F8-03A5-FE9A6BA7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11CE09-3154-AA80-78E5-86F02EBB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0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BA0D7-520F-4814-C5CB-94FE55D6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CAFBB4-26ED-9564-122F-741D6E6D4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4A1FDB-E220-1D9D-56A5-122A0FD13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E3A08D-4B5E-5375-A8CA-A00F0CFC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042718-F3B2-DDD5-F082-8F7725B0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32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31515D-D504-035B-B759-F7888693F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FC2C2-BFE2-A6B5-CF4C-128346323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620797-0739-D52D-2164-CE2D2063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2D14DD-F441-A57A-9CAE-70D84C90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FA1549-9C5E-1829-6557-1CEDFD84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048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5E0CEE-EF8D-88EC-7864-9FC3A28D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843B51-37DC-B751-4292-F970A2AC8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E3C98-1C1A-3F36-A113-A61A5D589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4EFC6-F7B7-44EB-8235-3B22C5A9D4ED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7F8D5-CC04-2F99-23E6-21BDBDFFC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EFBE23-EAA3-2854-2A86-7C8B53278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7823F-E29D-4D11-A5DE-E9B0781D4A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074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3" Type="http://schemas.openxmlformats.org/officeDocument/2006/relationships/customXml" Target="../ink/ink1.xml"/><Relationship Id="rId12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80.png"/><Relationship Id="rId15" Type="http://schemas.openxmlformats.org/officeDocument/2006/relationships/image" Target="../media/image10.png"/><Relationship Id="rId1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6539-1951-2133-A176-F219AEEA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2C548E6-5A57-9FD6-2F63-1DC401B3E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245320-1472-6B7C-2597-4EFA43941E7D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096621F-A672-EC9B-9910-79B418802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  <a:buNone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marL="457200" lvl="1" indent="0" algn="ctr" eaLnBrk="1" hangingPunct="1">
              <a:lnSpc>
                <a:spcPct val="80000"/>
              </a:lnSpc>
              <a:buNone/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75858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B357-4508-30FA-B356-BBA1E990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52D9663-0D7C-BF79-6367-5BCC69A01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>
                <a:solidFill>
                  <a:srgbClr val="C00000"/>
                </a:solidFill>
              </a:rPr>
              <a:t>INTRODUCCION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Perfiles y Entramados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A6FF3A-F691-8DB9-2585-62E963E10A3A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DBAC57C-308F-935B-CBF5-E6590B5B9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  <a:buNone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386032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885E-9EC2-98D2-DAD3-2BC70F28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098B58-021F-E21B-B1F2-4738BCDD8C88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128536F-F533-B78C-50CB-7421FC692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PERFILES LAMINADOS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3B56A2-0E1C-9A56-00D1-35879F59BA90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4BB968-73D6-594D-492A-0A16109F46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" r="75449" b="48789"/>
          <a:stretch>
            <a:fillRect/>
          </a:stretch>
        </p:blipFill>
        <p:spPr bwMode="auto">
          <a:xfrm>
            <a:off x="69454" y="822017"/>
            <a:ext cx="1520824" cy="403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5B31B8E-5C49-5242-FBEE-7EACBDC02B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7" r="73885"/>
          <a:stretch>
            <a:fillRect/>
          </a:stretch>
        </p:blipFill>
        <p:spPr bwMode="auto">
          <a:xfrm>
            <a:off x="1688812" y="807720"/>
            <a:ext cx="1617663" cy="369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B16D08A9-29DF-6F47-0C7C-F2E63C004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5" t="2401" r="52306"/>
          <a:stretch>
            <a:fillRect/>
          </a:stretch>
        </p:blipFill>
        <p:spPr bwMode="auto">
          <a:xfrm>
            <a:off x="10558568" y="673642"/>
            <a:ext cx="1444520" cy="813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4956381-495C-26E7-EADD-DFFD2E113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87" t="2537" r="30061" b="67206"/>
          <a:stretch>
            <a:fillRect/>
          </a:stretch>
        </p:blipFill>
        <p:spPr bwMode="auto">
          <a:xfrm>
            <a:off x="5467987" y="807720"/>
            <a:ext cx="1520824" cy="252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F92769D1-A55B-D65F-C716-48B50BEB7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54" t="49248"/>
          <a:stretch>
            <a:fillRect/>
          </a:stretch>
        </p:blipFill>
        <p:spPr bwMode="auto">
          <a:xfrm>
            <a:off x="7108269" y="822017"/>
            <a:ext cx="1824038" cy="423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164062E-4AE6-8BF0-3638-A0B4F9FB8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3" t="2648" b="52581"/>
          <a:stretch>
            <a:fillRect/>
          </a:stretch>
        </p:blipFill>
        <p:spPr bwMode="auto">
          <a:xfrm>
            <a:off x="3473691" y="807720"/>
            <a:ext cx="1874838" cy="37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8A644D76-5F9C-7F58-3ED8-06EA98A1BA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19" t="38911" r="31103"/>
          <a:stretch>
            <a:fillRect/>
          </a:stretch>
        </p:blipFill>
        <p:spPr bwMode="auto">
          <a:xfrm>
            <a:off x="8940907" y="783795"/>
            <a:ext cx="1379960" cy="509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83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D28F-2170-F5E4-FEBF-D40EA94D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DEB380-2525-9AC2-C40B-10949346BE83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524C397-9ED3-533A-9EAE-7A0A723C81A9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4D762B-C14E-2356-39B6-A86CEE42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642"/>
            <a:ext cx="6325148" cy="58374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14FB07A-65AB-27B5-203A-FF505106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749" y="887020"/>
            <a:ext cx="6363251" cy="5410669"/>
          </a:xfrm>
          <a:prstGeom prst="rect">
            <a:avLst/>
          </a:prstGeom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BBE8331B-3313-04B0-A115-A396669D3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PERFILES LAMINADOS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68428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F874-727E-B663-5B00-B5EB64A5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FA0DFBA-5AF1-8D06-1EE4-666CE0D74495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4DB2E1F-EF41-3E0B-D971-ED12EA5B736E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F1D3AD-2966-B693-3060-BF143FB6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045"/>
            <a:ext cx="6363251" cy="54259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3F57B7E-84E5-3EAE-1FCB-36D080FE8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006" y="716045"/>
            <a:ext cx="6370872" cy="4557155"/>
          </a:xfrm>
          <a:prstGeom prst="rect">
            <a:avLst/>
          </a:prstGeom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BD7E1BEB-4FC8-37EC-D879-E1CBDF532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PERFILES LAMINADOS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572876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240B-1834-46C8-877F-7E7D123F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E0AEDE-F7A2-67B4-A513-F745F5E1DDCB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9DAAF8-7A7E-AB19-EEBE-65805F463F44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79A75D-14FF-E7E2-475B-37D3CB6F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642"/>
            <a:ext cx="6271803" cy="683573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2A9B890-4532-25B0-026E-65CE91672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877" y="757469"/>
            <a:ext cx="6256562" cy="6668078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DF837FF4-2410-C4BA-37BE-7BF58D99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PERFILES LAMINADOS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96456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A418-2F6A-4A16-A106-33F14EA1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>
            <a:extLst>
              <a:ext uri="{FF2B5EF4-FFF2-40B4-BE49-F238E27FC236}">
                <a16:creationId xmlns:a16="http://schemas.microsoft.com/office/drawing/2014/main" id="{05CFF71A-9CD4-6A51-6D78-E33603FF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1081538"/>
            <a:ext cx="8675687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94E3FEB-5B21-CFF6-4789-6F241663ED2C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78B8B7F-0226-8F52-D525-1EF2E3540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ENTRAMADOS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18533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8810-A94A-B952-EC14-EDE74F26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EEF1AF-58F0-BD01-DCE3-11CB4809A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421" y="1311876"/>
            <a:ext cx="8321761" cy="52049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9BA6A2-EEEA-9CE7-D131-2DCED93338C8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9939DD8-9516-E750-4A64-EB90AB37B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ENTRAMADOS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1939192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60E1-AF57-6DBA-F54F-B0073EEE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D8128E3-19B3-F200-BFC5-FF37ED85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186" y="2913964"/>
            <a:ext cx="5513700" cy="344858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869452-E0C6-A5FC-9771-AE17A96DE380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2D6EF-DAC4-C2C7-C493-E754413A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"/>
          <a:stretch/>
        </p:blipFill>
        <p:spPr>
          <a:xfrm flipH="1">
            <a:off x="1026880" y="2913963"/>
            <a:ext cx="5399630" cy="3448587"/>
          </a:xfrm>
          <a:prstGeom prst="rect">
            <a:avLst/>
          </a:prstGeom>
        </p:spPr>
      </p:pic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390F536B-077F-AB8A-1578-1266A0632B22}"/>
              </a:ext>
            </a:extLst>
          </p:cNvPr>
          <p:cNvSpPr/>
          <p:nvPr/>
        </p:nvSpPr>
        <p:spPr>
          <a:xfrm>
            <a:off x="6293886" y="2178188"/>
            <a:ext cx="281374" cy="5433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B86A2B5-D553-CBFF-9125-ECBD949E6ECB}"/>
              </a:ext>
            </a:extLst>
          </p:cNvPr>
          <p:cNvCxnSpPr/>
          <p:nvPr/>
        </p:nvCxnSpPr>
        <p:spPr>
          <a:xfrm>
            <a:off x="6591135" y="3270250"/>
            <a:ext cx="0" cy="47625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A817585-2B3F-9792-E3D5-5B8009CC86FA}"/>
              </a:ext>
            </a:extLst>
          </p:cNvPr>
          <p:cNvCxnSpPr/>
          <p:nvPr/>
        </p:nvCxnSpPr>
        <p:spPr>
          <a:xfrm>
            <a:off x="6172035" y="3270250"/>
            <a:ext cx="0" cy="47625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C45286E-0B51-0129-D665-5AD37EE28AE1}"/>
              </a:ext>
            </a:extLst>
          </p:cNvPr>
          <p:cNvCxnSpPr>
            <a:cxnSpLocks/>
          </p:cNvCxnSpPr>
          <p:nvPr/>
        </p:nvCxnSpPr>
        <p:spPr>
          <a:xfrm>
            <a:off x="3344636" y="2611403"/>
            <a:ext cx="0" cy="39053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B67685F-F024-6400-D49F-518083505B72}"/>
              </a:ext>
            </a:extLst>
          </p:cNvPr>
          <p:cNvSpPr txBox="1"/>
          <p:nvPr/>
        </p:nvSpPr>
        <p:spPr>
          <a:xfrm>
            <a:off x="6143460" y="1816089"/>
            <a:ext cx="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JD1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C2C59B5-62B3-050E-A67D-2AFAB0AA6FAA}"/>
              </a:ext>
            </a:extLst>
          </p:cNvPr>
          <p:cNvCxnSpPr>
            <a:cxnSpLocks/>
          </p:cNvCxnSpPr>
          <p:nvPr/>
        </p:nvCxnSpPr>
        <p:spPr>
          <a:xfrm flipH="1">
            <a:off x="5654510" y="5730875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EF6E262-0B8A-7406-0B76-D8BE178ED852}"/>
              </a:ext>
            </a:extLst>
          </p:cNvPr>
          <p:cNvCxnSpPr>
            <a:cxnSpLocks/>
          </p:cNvCxnSpPr>
          <p:nvPr/>
        </p:nvCxnSpPr>
        <p:spPr>
          <a:xfrm flipH="1">
            <a:off x="6575260" y="5721350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9B06975-9BBC-96DE-C6E7-30C4BC8FA5A6}"/>
              </a:ext>
            </a:extLst>
          </p:cNvPr>
          <p:cNvCxnSpPr>
            <a:cxnSpLocks/>
          </p:cNvCxnSpPr>
          <p:nvPr/>
        </p:nvCxnSpPr>
        <p:spPr>
          <a:xfrm>
            <a:off x="6426200" y="2819266"/>
            <a:ext cx="0" cy="39053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C67B2E38-2B73-1AD0-B950-C7F766137F07}"/>
              </a:ext>
            </a:extLst>
          </p:cNvPr>
          <p:cNvSpPr/>
          <p:nvPr/>
        </p:nvSpPr>
        <p:spPr>
          <a:xfrm>
            <a:off x="3203949" y="2051430"/>
            <a:ext cx="281374" cy="5433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264460D-C695-4C8B-03B8-E08B915833C5}"/>
              </a:ext>
            </a:extLst>
          </p:cNvPr>
          <p:cNvCxnSpPr>
            <a:cxnSpLocks/>
          </p:cNvCxnSpPr>
          <p:nvPr/>
        </p:nvCxnSpPr>
        <p:spPr>
          <a:xfrm flipH="1">
            <a:off x="2610224" y="3521075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F91DCE9-50C0-AB13-84DE-1993CE254E73}"/>
              </a:ext>
            </a:extLst>
          </p:cNvPr>
          <p:cNvCxnSpPr>
            <a:cxnSpLocks/>
          </p:cNvCxnSpPr>
          <p:nvPr/>
        </p:nvCxnSpPr>
        <p:spPr>
          <a:xfrm flipH="1">
            <a:off x="3546849" y="3521075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115EECC-C0FA-15A4-948E-84F687B4AF3B}"/>
              </a:ext>
            </a:extLst>
          </p:cNvPr>
          <p:cNvSpPr txBox="1"/>
          <p:nvPr/>
        </p:nvSpPr>
        <p:spPr>
          <a:xfrm>
            <a:off x="296636" y="61851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SOPORTES HEB 300</a:t>
            </a:r>
          </a:p>
          <a:p>
            <a:r>
              <a:rPr lang="es-ES" dirty="0"/>
              <a:t>VIGAS IPE 300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869BC28-B7F7-1F7F-9E17-2C8974B04CAE}"/>
              </a:ext>
            </a:extLst>
          </p:cNvPr>
          <p:cNvGrpSpPr/>
          <p:nvPr/>
        </p:nvGrpSpPr>
        <p:grpSpPr>
          <a:xfrm>
            <a:off x="7957450" y="663231"/>
            <a:ext cx="4254986" cy="1107997"/>
            <a:chOff x="7896247" y="-28541"/>
            <a:chExt cx="4254986" cy="1107997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83AC2D1-E3A2-6088-C1A3-8384FB1EA90C}"/>
                </a:ext>
              </a:extLst>
            </p:cNvPr>
            <p:cNvSpPr txBox="1"/>
            <p:nvPr/>
          </p:nvSpPr>
          <p:spPr>
            <a:xfrm>
              <a:off x="7896247" y="-28541"/>
              <a:ext cx="425498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JUNTA DE DILATACIÓN (JD)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74D04D0-A3AF-9F1F-8D5C-89C99AE4DD96}"/>
                </a:ext>
              </a:extLst>
            </p:cNvPr>
            <p:cNvSpPr txBox="1"/>
            <p:nvPr/>
          </p:nvSpPr>
          <p:spPr>
            <a:xfrm>
              <a:off x="7896247" y="248459"/>
              <a:ext cx="2053760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200" b="1" dirty="0"/>
                <a:t>Paralela AL FORJADO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s-ES" sz="1200" dirty="0"/>
                <a:t>Doble pilar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s-ES" sz="1200" dirty="0"/>
                <a:t>Un Pilar / dos vigas</a:t>
              </a:r>
            </a:p>
            <a:p>
              <a:pPr marL="228600" indent="-228600">
                <a:buFont typeface="+mj-lt"/>
                <a:buAutoNum type="arabicPeriod"/>
              </a:pPr>
              <a:endParaRPr lang="es-ES" sz="1200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DFCE476-6851-7917-B989-9338DFAE11D0}"/>
                </a:ext>
              </a:extLst>
            </p:cNvPr>
            <p:cNvSpPr txBox="1"/>
            <p:nvPr/>
          </p:nvSpPr>
          <p:spPr>
            <a:xfrm>
              <a:off x="9950006" y="244842"/>
              <a:ext cx="2201227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200" b="1" dirty="0"/>
                <a:t>Perpendicular AL FORJADO</a:t>
              </a:r>
            </a:p>
            <a:p>
              <a:pPr marL="228600" indent="-228600">
                <a:buFont typeface="+mj-lt"/>
                <a:buAutoNum type="alphaUcPeriod"/>
              </a:pPr>
              <a:r>
                <a:rPr lang="es-ES" sz="1200" dirty="0"/>
                <a:t>Doble pilar</a:t>
              </a:r>
            </a:p>
            <a:p>
              <a:pPr marL="228600" indent="-228600">
                <a:buFont typeface="+mj-lt"/>
                <a:buAutoNum type="alphaUcPeriod"/>
              </a:pPr>
              <a:r>
                <a:rPr lang="es-ES" sz="1200" dirty="0"/>
                <a:t>Un Pilar / dos vigas</a:t>
              </a:r>
            </a:p>
            <a:p>
              <a:pPr marL="228600" indent="-228600">
                <a:buFont typeface="+mj-lt"/>
                <a:buAutoNum type="alphaUcPeriod"/>
              </a:pPr>
              <a:r>
                <a:rPr lang="es-ES" sz="1200" dirty="0"/>
                <a:t>Un pilar / una viga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635F92-DC2F-F4CF-AB05-FC146DE63D38}"/>
              </a:ext>
            </a:extLst>
          </p:cNvPr>
          <p:cNvSpPr txBox="1"/>
          <p:nvPr/>
        </p:nvSpPr>
        <p:spPr>
          <a:xfrm>
            <a:off x="3092874" y="6480758"/>
            <a:ext cx="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JDC</a:t>
            </a:r>
          </a:p>
        </p:txBody>
      </p:sp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3BDD82BB-62D6-710C-785D-A9770AEA7C4B}"/>
              </a:ext>
            </a:extLst>
          </p:cNvPr>
          <p:cNvSpPr/>
          <p:nvPr/>
        </p:nvSpPr>
        <p:spPr>
          <a:xfrm>
            <a:off x="9386871" y="2090469"/>
            <a:ext cx="281374" cy="5433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BFCBBE5-225C-8FC5-7FAD-2874FC68641E}"/>
              </a:ext>
            </a:extLst>
          </p:cNvPr>
          <p:cNvCxnSpPr/>
          <p:nvPr/>
        </p:nvCxnSpPr>
        <p:spPr>
          <a:xfrm>
            <a:off x="9684120" y="3182531"/>
            <a:ext cx="0" cy="47625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E4AEC62-7319-FA27-FB9C-E3A212832F5A}"/>
              </a:ext>
            </a:extLst>
          </p:cNvPr>
          <p:cNvCxnSpPr/>
          <p:nvPr/>
        </p:nvCxnSpPr>
        <p:spPr>
          <a:xfrm>
            <a:off x="9265020" y="3182531"/>
            <a:ext cx="0" cy="47625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D8AD59E-1B1C-08D3-4F8D-26BD9AC01B10}"/>
              </a:ext>
            </a:extLst>
          </p:cNvPr>
          <p:cNvCxnSpPr>
            <a:cxnSpLocks/>
          </p:cNvCxnSpPr>
          <p:nvPr/>
        </p:nvCxnSpPr>
        <p:spPr>
          <a:xfrm>
            <a:off x="9519185" y="2731547"/>
            <a:ext cx="0" cy="39053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12DD463-3C76-7AC3-7FAA-9C3439D297F7}"/>
              </a:ext>
            </a:extLst>
          </p:cNvPr>
          <p:cNvSpPr txBox="1"/>
          <p:nvPr/>
        </p:nvSpPr>
        <p:spPr>
          <a:xfrm>
            <a:off x="9236445" y="1765751"/>
            <a:ext cx="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JD2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C49B587-0F86-1C52-4FBC-9955C8EE47D4}"/>
              </a:ext>
            </a:extLst>
          </p:cNvPr>
          <p:cNvSpPr txBox="1"/>
          <p:nvPr/>
        </p:nvSpPr>
        <p:spPr>
          <a:xfrm>
            <a:off x="6459765" y="6498485"/>
            <a:ext cx="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JDA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4C1B7BD-25C9-E9B2-4596-7409C15FA725}"/>
              </a:ext>
            </a:extLst>
          </p:cNvPr>
          <p:cNvCxnSpPr>
            <a:cxnSpLocks/>
          </p:cNvCxnSpPr>
          <p:nvPr/>
        </p:nvCxnSpPr>
        <p:spPr>
          <a:xfrm flipH="1">
            <a:off x="8732393" y="5753177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2B3D2F7-6344-097F-D528-B9D761E1D489}"/>
              </a:ext>
            </a:extLst>
          </p:cNvPr>
          <p:cNvCxnSpPr>
            <a:cxnSpLocks/>
          </p:cNvCxnSpPr>
          <p:nvPr/>
        </p:nvCxnSpPr>
        <p:spPr>
          <a:xfrm flipH="1">
            <a:off x="9653143" y="5743652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469E2CF-6DF9-EAC4-572B-C3B1CA61DA67}"/>
              </a:ext>
            </a:extLst>
          </p:cNvPr>
          <p:cNvSpPr txBox="1"/>
          <p:nvPr/>
        </p:nvSpPr>
        <p:spPr>
          <a:xfrm>
            <a:off x="9221343" y="6539984"/>
            <a:ext cx="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JDB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A4ABFDD-14AF-A602-BAA7-733351C00847}"/>
              </a:ext>
            </a:extLst>
          </p:cNvPr>
          <p:cNvCxnSpPr>
            <a:cxnSpLocks/>
          </p:cNvCxnSpPr>
          <p:nvPr/>
        </p:nvCxnSpPr>
        <p:spPr>
          <a:xfrm flipH="1">
            <a:off x="2564573" y="5762702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B11CB72F-70D5-66A7-267F-A2BD393E5A49}"/>
              </a:ext>
            </a:extLst>
          </p:cNvPr>
          <p:cNvCxnSpPr>
            <a:cxnSpLocks/>
          </p:cNvCxnSpPr>
          <p:nvPr/>
        </p:nvCxnSpPr>
        <p:spPr>
          <a:xfrm flipH="1">
            <a:off x="3485323" y="5753177"/>
            <a:ext cx="5937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Grupo 85">
            <a:extLst>
              <a:ext uri="{FF2B5EF4-FFF2-40B4-BE49-F238E27FC236}">
                <a16:creationId xmlns:a16="http://schemas.microsoft.com/office/drawing/2014/main" id="{C5FF3D57-C62A-C3F7-12CD-DE846001F084}"/>
              </a:ext>
            </a:extLst>
          </p:cNvPr>
          <p:cNvGrpSpPr/>
          <p:nvPr/>
        </p:nvGrpSpPr>
        <p:grpSpPr>
          <a:xfrm>
            <a:off x="2200953" y="3767725"/>
            <a:ext cx="299880" cy="220320"/>
            <a:chOff x="2200953" y="3767725"/>
            <a:chExt cx="2998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B822EB6-B3A6-0FCB-D671-5AF9A28E3D7C}"/>
                    </a:ext>
                  </a:extLst>
                </p14:cNvPr>
                <p14:cNvContentPartPr/>
                <p14:nvPr/>
              </p14:nvContentPartPr>
              <p14:xfrm>
                <a:off x="2200953" y="3767725"/>
                <a:ext cx="244800" cy="20088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B822EB6-B3A6-0FCB-D671-5AF9A28E3D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2313" y="3758725"/>
                  <a:ext cx="26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CC47B52-3852-007D-0301-FD0966ABCCE4}"/>
                    </a:ext>
                  </a:extLst>
                </p14:cNvPr>
                <p14:cNvContentPartPr/>
                <p14:nvPr/>
              </p14:nvContentPartPr>
              <p14:xfrm>
                <a:off x="2230833" y="3778525"/>
                <a:ext cx="270000" cy="1270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CC47B52-3852-007D-0301-FD0966ABCC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22193" y="3769885"/>
                  <a:ext cx="287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414B60F-6510-D572-303B-AC58752CBDE0}"/>
                    </a:ext>
                  </a:extLst>
                </p14:cNvPr>
                <p14:cNvContentPartPr/>
                <p14:nvPr/>
              </p14:nvContentPartPr>
              <p14:xfrm>
                <a:off x="2247393" y="3767725"/>
                <a:ext cx="213120" cy="22032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414B60F-6510-D572-303B-AC58752CBD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8393" y="3758725"/>
                  <a:ext cx="230760" cy="237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Rectangle 7">
            <a:extLst>
              <a:ext uri="{FF2B5EF4-FFF2-40B4-BE49-F238E27FC236}">
                <a16:creationId xmlns:a16="http://schemas.microsoft.com/office/drawing/2014/main" id="{0042F470-1AAA-A368-6C45-86CA1FD39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324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INTRODUCCIÓN. ENTRAMADOS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188279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3D52-D36E-EEB9-DC51-9149CA3F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7ED4185-63C2-D936-84EA-A321A1BD0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>
                <a:solidFill>
                  <a:srgbClr val="C00000"/>
                </a:solidFill>
              </a:rPr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A0B2DC-44FE-C8EC-295F-4FFEB658D028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6EB45D8-4D03-1E6E-E532-05CA076D2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</a:t>
            </a:r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302367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2685-AD30-0FCF-B96E-41F34A16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3D4AEE-D23D-8D39-D5CA-668B128CE2FA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0C90127-8006-E48F-04C3-85BC1D8AB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321B6166-F6EB-9AED-14D0-33C6EAA61B9D}"/>
              </a:ext>
            </a:extLst>
          </p:cNvPr>
          <p:cNvGrpSpPr>
            <a:grpSpLocks/>
          </p:cNvGrpSpPr>
          <p:nvPr/>
        </p:nvGrpSpPr>
        <p:grpSpPr bwMode="auto">
          <a:xfrm>
            <a:off x="14363477" y="1677423"/>
            <a:ext cx="3383076" cy="4046089"/>
            <a:chOff x="385" y="1026"/>
            <a:chExt cx="1575" cy="1884"/>
          </a:xfrm>
        </p:grpSpPr>
        <p:pic>
          <p:nvPicPr>
            <p:cNvPr id="6" name="Picture 5" descr="EC9C9357">
              <a:extLst>
                <a:ext uri="{FF2B5EF4-FFF2-40B4-BE49-F238E27FC236}">
                  <a16:creationId xmlns:a16="http://schemas.microsoft.com/office/drawing/2014/main" id="{2D536391-E051-80E7-FCDE-2B5C83A3C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" r="57198" b="62663"/>
            <a:stretch>
              <a:fillRect/>
            </a:stretch>
          </p:blipFill>
          <p:spPr bwMode="auto">
            <a:xfrm>
              <a:off x="385" y="1026"/>
              <a:ext cx="1575" cy="1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F10BA150-B002-94D3-B5AE-5C009D9D5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CFCA0166-0CD7-B205-6CAB-92A4C88CB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071"/>
              <a:ext cx="453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0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78753433-5813-7558-5CF4-003E41569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5F5682DC-6519-4154-7874-2A571759B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6282F93E-6215-EE14-7745-D61A0E3B5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4C7D99E7-2084-254A-CEC6-C220DF554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0D68C3-FACA-91E4-8605-6C9567D9EE88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662CE28-07F4-11ED-6A1A-C4C85C83E451}"/>
              </a:ext>
            </a:extLst>
          </p:cNvPr>
          <p:cNvSpPr txBox="1"/>
          <p:nvPr/>
        </p:nvSpPr>
        <p:spPr>
          <a:xfrm>
            <a:off x="7571648" y="2438485"/>
            <a:ext cx="4620352" cy="253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800" dirty="0"/>
              <a:t>Unión soldada </a:t>
            </a:r>
            <a:r>
              <a:rPr lang="es-ES" altLang="es-ES" dirty="0"/>
              <a:t>soporte-viga con soldadura directa de alma</a:t>
            </a:r>
          </a:p>
          <a:p>
            <a:pPr marL="800100" lvl="1" indent="-342900" eaLnBrk="1" hangingPunct="1">
              <a:lnSpc>
                <a:spcPct val="80000"/>
              </a:lnSpc>
              <a:buFontTx/>
              <a:buAutoNum type="alphaLcParenR"/>
            </a:pPr>
            <a:endParaRPr lang="es-ES" altLang="es-ES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800" dirty="0"/>
              <a:t>b) Unión soldada </a:t>
            </a:r>
            <a:r>
              <a:rPr lang="es-ES" altLang="es-ES" dirty="0"/>
              <a:t>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s-ES" altLang="es-ES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800" dirty="0"/>
              <a:t>c) Unión soldada </a:t>
            </a:r>
            <a:r>
              <a:rPr lang="es-ES" altLang="es-ES" dirty="0"/>
              <a:t>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s-ES" altLang="es-ES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800" dirty="0"/>
              <a:t>d) Unión soldada </a:t>
            </a:r>
            <a:r>
              <a:rPr lang="es-ES" altLang="es-ES" dirty="0"/>
              <a:t>soporte-viga con angulares</a:t>
            </a:r>
            <a:endParaRPr lang="es-ES" altLang="es-E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D44174-CC3C-364E-7BCE-3409BC12B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2086"/>
            <a:ext cx="7687340" cy="53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0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D07D9-B663-489B-9D45-E1A00E48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7A7BD4-5D2E-2903-1ABC-F15EC4CD1822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51074E3-7D23-E44C-9880-937E615F4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4A29675-084C-A1EA-CE09-ACCA114B864D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BB6EACB-5A54-B8CD-0C37-4C3BEA88796C}"/>
              </a:ext>
            </a:extLst>
          </p:cNvPr>
          <p:cNvSpPr txBox="1"/>
          <p:nvPr/>
        </p:nvSpPr>
        <p:spPr>
          <a:xfrm>
            <a:off x="5242031" y="723012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a) </a:t>
            </a:r>
            <a:r>
              <a:rPr lang="es-ES" altLang="es-ES" sz="1200" b="1" dirty="0">
                <a:solidFill>
                  <a:srgbClr val="C00000"/>
                </a:solidFill>
              </a:rPr>
              <a:t>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c) 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d) Unión soldada soporte-viga con angulares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38F1777-2A74-1233-A1AB-A467FDBC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10" y="2000821"/>
            <a:ext cx="6782388" cy="473243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C0EB3C5-F75D-B102-88EF-DE721B608C23}"/>
              </a:ext>
            </a:extLst>
          </p:cNvPr>
          <p:cNvSpPr txBox="1"/>
          <p:nvPr/>
        </p:nvSpPr>
        <p:spPr>
          <a:xfrm>
            <a:off x="4666993" y="2268494"/>
            <a:ext cx="939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30cm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562B98B-1892-C390-2E74-8F9DAFC58C03}"/>
              </a:ext>
            </a:extLst>
          </p:cNvPr>
          <p:cNvSpPr txBox="1"/>
          <p:nvPr/>
        </p:nvSpPr>
        <p:spPr>
          <a:xfrm>
            <a:off x="6248859" y="2257527"/>
            <a:ext cx="939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15 mm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916F13F-095A-166B-701C-C5E5349B0202}"/>
              </a:ext>
            </a:extLst>
          </p:cNvPr>
          <p:cNvGrpSpPr/>
          <p:nvPr/>
        </p:nvGrpSpPr>
        <p:grpSpPr>
          <a:xfrm>
            <a:off x="479051" y="655937"/>
            <a:ext cx="3459939" cy="4046089"/>
            <a:chOff x="304800" y="1613628"/>
            <a:chExt cx="3459939" cy="4046089"/>
          </a:xfrm>
        </p:grpSpPr>
        <p:grpSp>
          <p:nvGrpSpPr>
            <p:cNvPr id="4" name="Group 39">
              <a:extLst>
                <a:ext uri="{FF2B5EF4-FFF2-40B4-BE49-F238E27FC236}">
                  <a16:creationId xmlns:a16="http://schemas.microsoft.com/office/drawing/2014/main" id="{E45B2F60-0B1C-BA19-62CB-F898508C8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663" y="1613628"/>
              <a:ext cx="3383076" cy="4046089"/>
              <a:chOff x="385" y="1026"/>
              <a:chExt cx="1575" cy="1884"/>
            </a:xfrm>
          </p:grpSpPr>
          <p:pic>
            <p:nvPicPr>
              <p:cNvPr id="6" name="Picture 5" descr="EC9C9357">
                <a:extLst>
                  <a:ext uri="{FF2B5EF4-FFF2-40B4-BE49-F238E27FC236}">
                    <a16:creationId xmlns:a16="http://schemas.microsoft.com/office/drawing/2014/main" id="{E4F4281C-B7C9-3930-40DB-46394F7E18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67" r="57198" b="62663"/>
              <a:stretch>
                <a:fillRect/>
              </a:stretch>
            </p:blipFill>
            <p:spPr bwMode="auto">
              <a:xfrm>
                <a:off x="385" y="1026"/>
                <a:ext cx="1575" cy="18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Freeform 25">
                <a:extLst>
                  <a:ext uri="{FF2B5EF4-FFF2-40B4-BE49-F238E27FC236}">
                    <a16:creationId xmlns:a16="http://schemas.microsoft.com/office/drawing/2014/main" id="{56070F0D-AA2F-BDC0-CF02-29710F22A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" y="1071"/>
                <a:ext cx="454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4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Freeform 26">
                <a:extLst>
                  <a:ext uri="{FF2B5EF4-FFF2-40B4-BE49-F238E27FC236}">
                    <a16:creationId xmlns:a16="http://schemas.microsoft.com/office/drawing/2014/main" id="{B38943C2-064E-0C30-4FB3-963875EE3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1071"/>
                <a:ext cx="453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0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Freeform 27">
                <a:extLst>
                  <a:ext uri="{FF2B5EF4-FFF2-40B4-BE49-F238E27FC236}">
                    <a16:creationId xmlns:a16="http://schemas.microsoft.com/office/drawing/2014/main" id="{1E864943-5BCB-C6F2-20E4-D52CC682F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1071"/>
                <a:ext cx="454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4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Text Box 28">
                <a:extLst>
                  <a:ext uri="{FF2B5EF4-FFF2-40B4-BE49-F238E27FC236}">
                    <a16:creationId xmlns:a16="http://schemas.microsoft.com/office/drawing/2014/main" id="{6D7AEA34-43CB-D685-3F39-EDB31AE8A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  <p:sp>
            <p:nvSpPr>
              <p:cNvPr id="12" name="Text Box 29">
                <a:extLst>
                  <a:ext uri="{FF2B5EF4-FFF2-40B4-BE49-F238E27FC236}">
                    <a16:creationId xmlns:a16="http://schemas.microsoft.com/office/drawing/2014/main" id="{E14F9792-52AB-BBBF-B919-E6E5D616B4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  <p:sp>
            <p:nvSpPr>
              <p:cNvPr id="13" name="Text Box 30">
                <a:extLst>
                  <a:ext uri="{FF2B5EF4-FFF2-40B4-BE49-F238E27FC236}">
                    <a16:creationId xmlns:a16="http://schemas.microsoft.com/office/drawing/2014/main" id="{F68F4277-E31B-D489-FBFE-EBECF825B5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</p:grp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F2FF30E-2C11-F7D4-C915-2DCC47FCD04C}"/>
                </a:ext>
              </a:extLst>
            </p:cNvPr>
            <p:cNvSpPr/>
            <p:nvPr/>
          </p:nvSpPr>
          <p:spPr>
            <a:xfrm>
              <a:off x="304800" y="4450080"/>
              <a:ext cx="3459939" cy="422757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4A61D7-C55A-9691-DA60-0B7631BF947C}"/>
              </a:ext>
            </a:extLst>
          </p:cNvPr>
          <p:cNvSpPr txBox="1"/>
          <p:nvPr/>
        </p:nvSpPr>
        <p:spPr>
          <a:xfrm>
            <a:off x="404979" y="4744060"/>
            <a:ext cx="17640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Garganta</a:t>
            </a:r>
            <a:r>
              <a:rPr lang="es-ES" sz="1400" dirty="0"/>
              <a:t>: está en función de los espesores del alma (</a:t>
            </a:r>
            <a:r>
              <a:rPr lang="es-ES" sz="1400" b="1" dirty="0"/>
              <a:t>e</a:t>
            </a:r>
            <a:r>
              <a:rPr lang="es-ES" sz="1400" dirty="0"/>
              <a:t>) o de los espesores a unir, </a:t>
            </a:r>
            <a:r>
              <a:rPr lang="es-ES" sz="1400" b="1" dirty="0" err="1"/>
              <a:t>g</a:t>
            </a:r>
            <a:r>
              <a:rPr lang="es-ES" sz="1400" b="1" baseline="-25000" dirty="0" err="1"/>
              <a:t>max</a:t>
            </a:r>
            <a:r>
              <a:rPr lang="es-ES" sz="1400" dirty="0"/>
              <a:t> </a:t>
            </a:r>
            <a:r>
              <a:rPr lang="es-ES" sz="1400" dirty="0" err="1"/>
              <a:t>aprox</a:t>
            </a:r>
            <a:r>
              <a:rPr lang="es-ES" sz="1400" dirty="0"/>
              <a:t> 0,60 </a:t>
            </a:r>
            <a:r>
              <a:rPr lang="es-ES" sz="1400" b="1" dirty="0"/>
              <a:t>e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3DA84DB-BB9A-A7F6-A5BE-6CBD2838B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060" b="44491"/>
          <a:stretch/>
        </p:blipFill>
        <p:spPr>
          <a:xfrm>
            <a:off x="2252387" y="4744060"/>
            <a:ext cx="2056007" cy="189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7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6682-3C69-2684-375A-3C0056C6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234C48-825A-D1DB-DB1E-E7F5C51B1E5C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142A4-48BC-6AD3-6036-6CCF9CE26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CB33BE24-0C99-469D-671C-C4CA50BBDA89}"/>
              </a:ext>
            </a:extLst>
          </p:cNvPr>
          <p:cNvGrpSpPr>
            <a:grpSpLocks/>
          </p:cNvGrpSpPr>
          <p:nvPr/>
        </p:nvGrpSpPr>
        <p:grpSpPr bwMode="auto">
          <a:xfrm>
            <a:off x="381663" y="1613628"/>
            <a:ext cx="3383076" cy="4046089"/>
            <a:chOff x="385" y="1026"/>
            <a:chExt cx="1575" cy="1884"/>
          </a:xfrm>
        </p:grpSpPr>
        <p:pic>
          <p:nvPicPr>
            <p:cNvPr id="6" name="Picture 5" descr="EC9C9357">
              <a:extLst>
                <a:ext uri="{FF2B5EF4-FFF2-40B4-BE49-F238E27FC236}">
                  <a16:creationId xmlns:a16="http://schemas.microsoft.com/office/drawing/2014/main" id="{17596A4A-FA73-A467-7662-A9BAA0001B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" r="57198" b="62663"/>
            <a:stretch>
              <a:fillRect/>
            </a:stretch>
          </p:blipFill>
          <p:spPr bwMode="auto">
            <a:xfrm>
              <a:off x="385" y="1026"/>
              <a:ext cx="1575" cy="1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27B0FB15-3A50-326D-3199-81DA9E383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825A7DB0-7D74-A8DC-D79A-E261CC88A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071"/>
              <a:ext cx="453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0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623ABF47-EF92-528D-B20D-E8DF4D599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78B2FFE1-EC24-0383-0DC8-DD61CF639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4AF34F63-2432-C2D7-CC23-9A4C354C2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BDD478FC-16FB-132D-D114-E920B3B77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0A404E7-080E-B62B-2740-0766514B8759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6976EBD-5DAC-FB0F-FDC1-3F314E064C55}"/>
              </a:ext>
            </a:extLst>
          </p:cNvPr>
          <p:cNvSpPr txBox="1"/>
          <p:nvPr/>
        </p:nvSpPr>
        <p:spPr>
          <a:xfrm>
            <a:off x="5242031" y="723012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a) 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b="1" dirty="0">
                <a:solidFill>
                  <a:srgbClr val="00B0F0"/>
                </a:solidFill>
              </a:rPr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c) 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d) Unión soldada soporte-viga con angulares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88B675F-1ABA-241F-B7EC-545DF0A8AC4E}"/>
              </a:ext>
            </a:extLst>
          </p:cNvPr>
          <p:cNvSpPr txBox="1"/>
          <p:nvPr/>
        </p:nvSpPr>
        <p:spPr>
          <a:xfrm>
            <a:off x="4171139" y="2257528"/>
            <a:ext cx="939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30cm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5FA3A65-CA64-9ADB-09E9-790EC80B9102}"/>
              </a:ext>
            </a:extLst>
          </p:cNvPr>
          <p:cNvSpPr txBox="1"/>
          <p:nvPr/>
        </p:nvSpPr>
        <p:spPr>
          <a:xfrm>
            <a:off x="6248859" y="2257527"/>
            <a:ext cx="939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15 mm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F03375-D91C-CC2B-580D-3ED215A97F07}"/>
              </a:ext>
            </a:extLst>
          </p:cNvPr>
          <p:cNvSpPr/>
          <p:nvPr/>
        </p:nvSpPr>
        <p:spPr>
          <a:xfrm>
            <a:off x="381663" y="3939718"/>
            <a:ext cx="3459939" cy="422757"/>
          </a:xfrm>
          <a:prstGeom prst="rect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8A82CB1-9066-E5A7-F631-DD437D99C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584" y="1613628"/>
            <a:ext cx="4109960" cy="515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22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3677-4A87-E7E3-985A-1EFB440C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AA9D32-C0ED-5B77-2148-31588216F3B4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4C20D6C-D56E-24FC-B684-C3058C854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847F7FED-3607-62FC-48ED-5CAF2E930ADA}"/>
              </a:ext>
            </a:extLst>
          </p:cNvPr>
          <p:cNvGrpSpPr>
            <a:grpSpLocks/>
          </p:cNvGrpSpPr>
          <p:nvPr/>
        </p:nvGrpSpPr>
        <p:grpSpPr bwMode="auto">
          <a:xfrm>
            <a:off x="381663" y="1613628"/>
            <a:ext cx="3383076" cy="4046089"/>
            <a:chOff x="385" y="1026"/>
            <a:chExt cx="1575" cy="1884"/>
          </a:xfrm>
        </p:grpSpPr>
        <p:pic>
          <p:nvPicPr>
            <p:cNvPr id="6" name="Picture 5" descr="EC9C9357">
              <a:extLst>
                <a:ext uri="{FF2B5EF4-FFF2-40B4-BE49-F238E27FC236}">
                  <a16:creationId xmlns:a16="http://schemas.microsoft.com/office/drawing/2014/main" id="{628E245F-AD72-6351-A38D-95BAC7D84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" r="57198" b="62663"/>
            <a:stretch>
              <a:fillRect/>
            </a:stretch>
          </p:blipFill>
          <p:spPr bwMode="auto">
            <a:xfrm>
              <a:off x="385" y="1026"/>
              <a:ext cx="1575" cy="1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7B6B6457-1E92-5305-2E83-BC0DC5B3B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55CBAE3C-27F1-C80E-0FE1-5F8A92092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071"/>
              <a:ext cx="453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0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1EA7A660-7453-ED26-6CD9-6AFA277C2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0D9DFB3B-6A25-5A54-9B1E-BE273D219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2EE90D51-BCCD-F9AB-DB57-C1B37A3C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EDD8125B-2556-B3C8-2AAD-13AC42BE4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A6BA487-56DD-9DE8-EB0C-35102BAF37B1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304DBBF-324F-E572-2710-6518BDBCF9F5}"/>
              </a:ext>
            </a:extLst>
          </p:cNvPr>
          <p:cNvSpPr txBox="1"/>
          <p:nvPr/>
        </p:nvSpPr>
        <p:spPr>
          <a:xfrm>
            <a:off x="5242031" y="723012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a) 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c) </a:t>
            </a:r>
            <a:r>
              <a:rPr lang="es-ES" altLang="es-ES" sz="1200" b="1" dirty="0">
                <a:solidFill>
                  <a:schemeClr val="accent6">
                    <a:lumMod val="75000"/>
                  </a:schemeClr>
                </a:solidFill>
              </a:rPr>
              <a:t>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d) Unión soldada soporte-viga con angulares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D0055A4-D689-6FDE-B9F6-1FA92267798D}"/>
              </a:ext>
            </a:extLst>
          </p:cNvPr>
          <p:cNvSpPr/>
          <p:nvPr/>
        </p:nvSpPr>
        <p:spPr>
          <a:xfrm>
            <a:off x="381663" y="3312397"/>
            <a:ext cx="3459939" cy="422757"/>
          </a:xfrm>
          <a:prstGeom prst="rect">
            <a:avLst/>
          </a:prstGeom>
          <a:solidFill>
            <a:schemeClr val="accent6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7AE176-AAF7-8376-0CC4-C9F80E33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1921"/>
            <a:ext cx="3770912" cy="474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09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6916-6592-E618-79C8-F9A58523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F0EE0A3-DA4E-8B8E-2387-F9A1389F631C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8307A52-0FD0-6FBA-3DB0-27D54C65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AB869D4-A0CE-0030-8517-A1E98F5EEC0A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8C10BC-BDD8-7878-A3DE-FF6E11207F8D}"/>
              </a:ext>
            </a:extLst>
          </p:cNvPr>
          <p:cNvSpPr txBox="1"/>
          <p:nvPr/>
        </p:nvSpPr>
        <p:spPr>
          <a:xfrm>
            <a:off x="5242031" y="723012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a) 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c) 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b="1" dirty="0">
                <a:solidFill>
                  <a:schemeClr val="accent2">
                    <a:lumMod val="75000"/>
                  </a:schemeClr>
                </a:solidFill>
              </a:rPr>
              <a:t>d) Unión soldada soporte-viga con angulares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21DCFF3-B945-15CF-B68E-798615395E92}"/>
              </a:ext>
            </a:extLst>
          </p:cNvPr>
          <p:cNvGrpSpPr/>
          <p:nvPr/>
        </p:nvGrpSpPr>
        <p:grpSpPr>
          <a:xfrm>
            <a:off x="127020" y="710545"/>
            <a:ext cx="3492650" cy="4046089"/>
            <a:chOff x="381663" y="1613628"/>
            <a:chExt cx="3492650" cy="4046089"/>
          </a:xfrm>
        </p:grpSpPr>
        <p:grpSp>
          <p:nvGrpSpPr>
            <p:cNvPr id="4" name="Group 39">
              <a:extLst>
                <a:ext uri="{FF2B5EF4-FFF2-40B4-BE49-F238E27FC236}">
                  <a16:creationId xmlns:a16="http://schemas.microsoft.com/office/drawing/2014/main" id="{9118E23E-A7B6-D274-4D29-683E70487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663" y="1613628"/>
              <a:ext cx="3383076" cy="4046089"/>
              <a:chOff x="385" y="1026"/>
              <a:chExt cx="1575" cy="1884"/>
            </a:xfrm>
          </p:grpSpPr>
          <p:pic>
            <p:nvPicPr>
              <p:cNvPr id="6" name="Picture 5" descr="EC9C9357">
                <a:extLst>
                  <a:ext uri="{FF2B5EF4-FFF2-40B4-BE49-F238E27FC236}">
                    <a16:creationId xmlns:a16="http://schemas.microsoft.com/office/drawing/2014/main" id="{8EBE63CD-3F7A-8789-168F-CDB76A62AB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67" r="57198" b="62663"/>
              <a:stretch>
                <a:fillRect/>
              </a:stretch>
            </p:blipFill>
            <p:spPr bwMode="auto">
              <a:xfrm>
                <a:off x="385" y="1026"/>
                <a:ext cx="1575" cy="18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Freeform 25">
                <a:extLst>
                  <a:ext uri="{FF2B5EF4-FFF2-40B4-BE49-F238E27FC236}">
                    <a16:creationId xmlns:a16="http://schemas.microsoft.com/office/drawing/2014/main" id="{FC4A8720-70CB-1DD3-E09D-5A305D85B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" y="1071"/>
                <a:ext cx="454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4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" name="Freeform 26">
                <a:extLst>
                  <a:ext uri="{FF2B5EF4-FFF2-40B4-BE49-F238E27FC236}">
                    <a16:creationId xmlns:a16="http://schemas.microsoft.com/office/drawing/2014/main" id="{E6E6AC1E-E286-1C2D-2F21-461F9DBA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1071"/>
                <a:ext cx="453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0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Freeform 27">
                <a:extLst>
                  <a:ext uri="{FF2B5EF4-FFF2-40B4-BE49-F238E27FC236}">
                    <a16:creationId xmlns:a16="http://schemas.microsoft.com/office/drawing/2014/main" id="{CB588ABA-DC21-936E-C5BA-565911E2A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1071"/>
                <a:ext cx="454" cy="136"/>
              </a:xfrm>
              <a:custGeom>
                <a:avLst/>
                <a:gdLst>
                  <a:gd name="T0" fmla="*/ 0 w 454"/>
                  <a:gd name="T1" fmla="*/ 0 h 136"/>
                  <a:gd name="T2" fmla="*/ 227 w 454"/>
                  <a:gd name="T3" fmla="*/ 136 h 136"/>
                  <a:gd name="T4" fmla="*/ 454 w 454"/>
                  <a:gd name="T5" fmla="*/ 0 h 136"/>
                  <a:gd name="T6" fmla="*/ 0 60000 65536"/>
                  <a:gd name="T7" fmla="*/ 0 60000 65536"/>
                  <a:gd name="T8" fmla="*/ 0 60000 65536"/>
                  <a:gd name="T9" fmla="*/ 0 w 454"/>
                  <a:gd name="T10" fmla="*/ 0 h 136"/>
                  <a:gd name="T11" fmla="*/ 454 w 454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4" h="136">
                    <a:moveTo>
                      <a:pt x="0" y="0"/>
                    </a:moveTo>
                    <a:cubicBezTo>
                      <a:pt x="75" y="68"/>
                      <a:pt x="151" y="136"/>
                      <a:pt x="227" y="136"/>
                    </a:cubicBezTo>
                    <a:cubicBezTo>
                      <a:pt x="303" y="136"/>
                      <a:pt x="424" y="30"/>
                      <a:pt x="45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Text Box 28">
                <a:extLst>
                  <a:ext uri="{FF2B5EF4-FFF2-40B4-BE49-F238E27FC236}">
                    <a16:creationId xmlns:a16="http://schemas.microsoft.com/office/drawing/2014/main" id="{F94D85D7-153E-C521-B7B0-37D4828D4D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  <p:sp>
            <p:nvSpPr>
              <p:cNvPr id="12" name="Text Box 29">
                <a:extLst>
                  <a:ext uri="{FF2B5EF4-FFF2-40B4-BE49-F238E27FC236}">
                    <a16:creationId xmlns:a16="http://schemas.microsoft.com/office/drawing/2014/main" id="{6C7917F4-7775-9F1E-9B83-C0EE401E5A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  <p:sp>
            <p:nvSpPr>
              <p:cNvPr id="13" name="Text Box 30">
                <a:extLst>
                  <a:ext uri="{FF2B5EF4-FFF2-40B4-BE49-F238E27FC236}">
                    <a16:creationId xmlns:a16="http://schemas.microsoft.com/office/drawing/2014/main" id="{AAF4BE64-F481-E4D2-2796-B25B2BE63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1071"/>
                <a:ext cx="40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altLang="es-ES" sz="1200"/>
                  <a:t>+</a:t>
                </a:r>
              </a:p>
            </p:txBody>
          </p:sp>
        </p:grp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3AEAE56-8F70-0906-B59C-20D07AAD494D}"/>
                </a:ext>
              </a:extLst>
            </p:cNvPr>
            <p:cNvSpPr/>
            <p:nvPr/>
          </p:nvSpPr>
          <p:spPr>
            <a:xfrm>
              <a:off x="414374" y="2694048"/>
              <a:ext cx="3459939" cy="4227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563E96E2-41E3-4A7B-F987-BDE91BEE5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48" y="1847717"/>
            <a:ext cx="7216765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79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8C5F-2B85-7BE7-85CD-2B3C235A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9">
            <a:extLst>
              <a:ext uri="{FF2B5EF4-FFF2-40B4-BE49-F238E27FC236}">
                <a16:creationId xmlns:a16="http://schemas.microsoft.com/office/drawing/2014/main" id="{AA119846-D0B5-B78E-D1CF-B6B13216661B}"/>
              </a:ext>
            </a:extLst>
          </p:cNvPr>
          <p:cNvGrpSpPr>
            <a:grpSpLocks/>
          </p:cNvGrpSpPr>
          <p:nvPr/>
        </p:nvGrpSpPr>
        <p:grpSpPr bwMode="auto">
          <a:xfrm>
            <a:off x="81405" y="871283"/>
            <a:ext cx="3383076" cy="4046089"/>
            <a:chOff x="385" y="1026"/>
            <a:chExt cx="1575" cy="1884"/>
          </a:xfrm>
        </p:grpSpPr>
        <p:pic>
          <p:nvPicPr>
            <p:cNvPr id="6" name="Picture 5" descr="EC9C9357">
              <a:extLst>
                <a:ext uri="{FF2B5EF4-FFF2-40B4-BE49-F238E27FC236}">
                  <a16:creationId xmlns:a16="http://schemas.microsoft.com/office/drawing/2014/main" id="{D7DBB209-7A33-3603-E77B-5950E4298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" r="57198" b="62663"/>
            <a:stretch>
              <a:fillRect/>
            </a:stretch>
          </p:blipFill>
          <p:spPr bwMode="auto">
            <a:xfrm>
              <a:off x="385" y="1026"/>
              <a:ext cx="1575" cy="1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2321AADE-498E-8B5E-B7F9-FC0159BFF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82FD0060-5A20-9F1E-22E5-0D29EF81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071"/>
              <a:ext cx="453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0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1D491204-C94B-1A12-D14B-BD61107BE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D5E19105-7B30-BE92-7C5C-3A9E609FC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F7C5A178-19D4-C5E6-120A-FFFFA14C6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F875604D-34AD-D25D-A046-78C3EA7D1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</p:grp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63B34B7-4FD1-9F23-4AE0-9D455D09D44A}"/>
              </a:ext>
            </a:extLst>
          </p:cNvPr>
          <p:cNvCxnSpPr>
            <a:cxnSpLocks/>
          </p:cNvCxnSpPr>
          <p:nvPr/>
        </p:nvCxnSpPr>
        <p:spPr>
          <a:xfrm flipH="1">
            <a:off x="3436818" y="5078111"/>
            <a:ext cx="7897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7">
            <a:extLst>
              <a:ext uri="{FF2B5EF4-FFF2-40B4-BE49-F238E27FC236}">
                <a16:creationId xmlns:a16="http://schemas.microsoft.com/office/drawing/2014/main" id="{14C89D2B-6416-C1BF-B668-930F4B8FF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174" y="1763431"/>
            <a:ext cx="5049119" cy="924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s-ES" altLang="es-ES" sz="1600" dirty="0"/>
              <a:t>Unión articulada ½ </a:t>
            </a:r>
            <a:r>
              <a:rPr lang="es-ES" altLang="es-ES" sz="1600" dirty="0" err="1"/>
              <a:t>h</a:t>
            </a:r>
            <a:r>
              <a:rPr lang="es-ES" altLang="es-ES" sz="1600" baseline="-25000" dirty="0" err="1"/>
              <a:t>alma</a:t>
            </a:r>
            <a:r>
              <a:rPr lang="es-ES" alt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s-ES" sz="1600" dirty="0"/>
              <a:t> ≤ </a:t>
            </a:r>
            <a:r>
              <a:rPr lang="es-ES" altLang="es-ES" sz="1600" b="1" dirty="0">
                <a:solidFill>
                  <a:srgbClr val="FF0000"/>
                </a:solidFill>
              </a:rPr>
              <a:t>m</a:t>
            </a:r>
            <a:r>
              <a:rPr lang="es-ES" altLang="es-ES" sz="1600" dirty="0"/>
              <a:t> ≤ 2/3 </a:t>
            </a:r>
            <a:r>
              <a:rPr lang="es-ES" altLang="es-ES" sz="1600" b="1" dirty="0" err="1">
                <a:solidFill>
                  <a:srgbClr val="00B0F0"/>
                </a:solidFill>
              </a:rPr>
              <a:t>h</a:t>
            </a:r>
            <a:r>
              <a:rPr lang="es-ES" altLang="es-ES" sz="1600" baseline="-25000" dirty="0" err="1">
                <a:solidFill>
                  <a:srgbClr val="00B0F0"/>
                </a:solidFill>
              </a:rPr>
              <a:t>alma</a:t>
            </a:r>
            <a:endParaRPr lang="es-ES" altLang="es-ES" sz="1600" baseline="-250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s-ES" altLang="es-ES" sz="1600" dirty="0"/>
              <a:t>Unión semirrígida </a:t>
            </a:r>
            <a:r>
              <a:rPr lang="es-ES" altLang="es-ES" sz="1600" b="1" dirty="0">
                <a:solidFill>
                  <a:srgbClr val="FF0000"/>
                </a:solidFill>
              </a:rPr>
              <a:t>m</a:t>
            </a:r>
            <a:r>
              <a:rPr lang="es-ES" altLang="es-ES" sz="1600" dirty="0"/>
              <a:t> </a:t>
            </a:r>
            <a:r>
              <a:rPr lang="es-ES" altLang="es-ES" sz="1600" baseline="-25000" dirty="0">
                <a:solidFill>
                  <a:srgbClr val="FF0000"/>
                </a:solidFill>
              </a:rPr>
              <a:t>longitud soldadura </a:t>
            </a:r>
            <a:r>
              <a:rPr lang="es-ES" altLang="es-ES" sz="1600" dirty="0"/>
              <a:t>≥ </a:t>
            </a:r>
            <a:r>
              <a:rPr lang="es-ES" altLang="es-ES" sz="1600" dirty="0">
                <a:solidFill>
                  <a:srgbClr val="00B0F0"/>
                </a:solidFill>
              </a:rPr>
              <a:t>2/3 </a:t>
            </a:r>
            <a:r>
              <a:rPr lang="es-ES" altLang="es-ES" sz="1600" b="1" dirty="0" err="1">
                <a:solidFill>
                  <a:srgbClr val="00B0F0"/>
                </a:solidFill>
              </a:rPr>
              <a:t>h</a:t>
            </a:r>
            <a:r>
              <a:rPr lang="es-ES" altLang="es-ES" sz="1600" baseline="-25000" dirty="0" err="1">
                <a:solidFill>
                  <a:srgbClr val="00B0F0"/>
                </a:solidFill>
              </a:rPr>
              <a:t>alma</a:t>
            </a:r>
            <a:r>
              <a:rPr lang="es-ES" altLang="es-ES" sz="1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altLang="es-ES" sz="1600" dirty="0">
              <a:solidFill>
                <a:srgbClr val="00B0F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s-ES" altLang="es-ES" sz="1600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 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098F124-3B4C-5BF6-1D5A-B07F8CC39954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73D47C9B-9DB2-6A32-9428-41AE54C0A03D}"/>
              </a:ext>
            </a:extLst>
          </p:cNvPr>
          <p:cNvGrpSpPr/>
          <p:nvPr/>
        </p:nvGrpSpPr>
        <p:grpSpPr>
          <a:xfrm>
            <a:off x="3986494" y="1512755"/>
            <a:ext cx="3662205" cy="4654239"/>
            <a:chOff x="4583906" y="1642793"/>
            <a:chExt cx="3662205" cy="4654239"/>
          </a:xfrm>
        </p:grpSpPr>
        <p:pic>
          <p:nvPicPr>
            <p:cNvPr id="14" name="Picture 6" descr="nudos articulados">
              <a:extLst>
                <a:ext uri="{FF2B5EF4-FFF2-40B4-BE49-F238E27FC236}">
                  <a16:creationId xmlns:a16="http://schemas.microsoft.com/office/drawing/2014/main" id="{7862DD78-B1EC-3F27-B17B-1A9C34AF59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9" t="3831" r="61362" b="70161"/>
            <a:stretch>
              <a:fillRect/>
            </a:stretch>
          </p:blipFill>
          <p:spPr bwMode="auto">
            <a:xfrm>
              <a:off x="4583906" y="1642793"/>
              <a:ext cx="3662205" cy="4654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85AB83F5-0B98-1E79-662B-EF1D37AC050C}"/>
                </a:ext>
              </a:extLst>
            </p:cNvPr>
            <p:cNvCxnSpPr/>
            <p:nvPr/>
          </p:nvCxnSpPr>
          <p:spPr>
            <a:xfrm flipV="1">
              <a:off x="6018696" y="3586030"/>
              <a:ext cx="0" cy="52877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534F2099-36D0-E662-C001-A69AAC70D8C3}"/>
                </a:ext>
              </a:extLst>
            </p:cNvPr>
            <p:cNvSpPr txBox="1"/>
            <p:nvPr/>
          </p:nvSpPr>
          <p:spPr>
            <a:xfrm>
              <a:off x="6018696" y="3733464"/>
              <a:ext cx="436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altLang="es-ES" sz="1800" b="1" dirty="0">
                  <a:solidFill>
                    <a:srgbClr val="FF0000"/>
                  </a:solidFill>
                </a:rPr>
                <a:t>m</a:t>
              </a:r>
              <a:endParaRPr lang="es-E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D8B3B108-D35C-95F3-5380-FBC52BB98A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1040" y="4572000"/>
              <a:ext cx="0" cy="833345"/>
            </a:xfrm>
            <a:prstGeom prst="straightConnector1">
              <a:avLst/>
            </a:prstGeom>
            <a:ln>
              <a:solidFill>
                <a:srgbClr val="00B0F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445E994-93DB-D848-31C4-7448D5AE24B2}"/>
                </a:ext>
              </a:extLst>
            </p:cNvPr>
            <p:cNvSpPr txBox="1"/>
            <p:nvPr/>
          </p:nvSpPr>
          <p:spPr>
            <a:xfrm>
              <a:off x="7266965" y="4675044"/>
              <a:ext cx="7821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altLang="es-ES" sz="1800" b="1" dirty="0" err="1">
                  <a:solidFill>
                    <a:srgbClr val="00B0F0"/>
                  </a:solidFill>
                </a:rPr>
                <a:t>h</a:t>
              </a:r>
              <a:r>
                <a:rPr lang="es-ES" altLang="es-ES" sz="1800" baseline="-25000" dirty="0" err="1">
                  <a:solidFill>
                    <a:srgbClr val="00B0F0"/>
                  </a:solidFill>
                </a:rPr>
                <a:t>alma</a:t>
              </a:r>
              <a:endParaRPr lang="es-ES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25E649F8-F799-C9C0-5266-7913DB12D3F3}"/>
              </a:ext>
            </a:extLst>
          </p:cNvPr>
          <p:cNvGrpSpPr/>
          <p:nvPr/>
        </p:nvGrpSpPr>
        <p:grpSpPr>
          <a:xfrm>
            <a:off x="7600583" y="3603426"/>
            <a:ext cx="4424966" cy="3023185"/>
            <a:chOff x="8049145" y="3320162"/>
            <a:chExt cx="3926037" cy="2711002"/>
          </a:xfrm>
        </p:grpSpPr>
        <p:pic>
          <p:nvPicPr>
            <p:cNvPr id="15" name="Picture 6" descr="nudos articulados">
              <a:extLst>
                <a:ext uri="{FF2B5EF4-FFF2-40B4-BE49-F238E27FC236}">
                  <a16:creationId xmlns:a16="http://schemas.microsoft.com/office/drawing/2014/main" id="{D9BDA67C-3E00-4095-7334-CD7512AB53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475" t="6110" r="8107" b="71864"/>
            <a:stretch>
              <a:fillRect/>
            </a:stretch>
          </p:blipFill>
          <p:spPr bwMode="auto">
            <a:xfrm>
              <a:off x="8049145" y="3320162"/>
              <a:ext cx="3926037" cy="271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5A4299F5-B5ED-1FF4-7A09-15A747784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826" y="4392930"/>
              <a:ext cx="0" cy="685800"/>
            </a:xfrm>
            <a:prstGeom prst="straightConnector1">
              <a:avLst/>
            </a:prstGeom>
            <a:ln>
              <a:solidFill>
                <a:srgbClr val="00B0F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8AC13C78-9B71-77A1-5680-D404EF173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396" y="4507230"/>
              <a:ext cx="0" cy="42672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6BB6CEE4-D559-F84C-FE15-18226F480E7C}"/>
                </a:ext>
              </a:extLst>
            </p:cNvPr>
            <p:cNvSpPr txBox="1"/>
            <p:nvPr/>
          </p:nvSpPr>
          <p:spPr>
            <a:xfrm>
              <a:off x="9494380" y="4490378"/>
              <a:ext cx="7821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altLang="es-ES" sz="1800" b="1" dirty="0" err="1">
                  <a:solidFill>
                    <a:srgbClr val="00B0F0"/>
                  </a:solidFill>
                </a:rPr>
                <a:t>h</a:t>
              </a:r>
              <a:r>
                <a:rPr lang="es-ES" altLang="es-ES" sz="1800" baseline="-25000" dirty="0" err="1">
                  <a:solidFill>
                    <a:srgbClr val="00B0F0"/>
                  </a:solidFill>
                </a:rPr>
                <a:t>alma</a:t>
              </a:r>
              <a:endParaRPr lang="es-ES" dirty="0"/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73F2F8B-0FB2-5396-B6B8-96AE19C4F85D}"/>
                </a:ext>
              </a:extLst>
            </p:cNvPr>
            <p:cNvSpPr txBox="1"/>
            <p:nvPr/>
          </p:nvSpPr>
          <p:spPr>
            <a:xfrm>
              <a:off x="8948174" y="4490378"/>
              <a:ext cx="436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altLang="es-ES" sz="1800" b="1" dirty="0">
                  <a:solidFill>
                    <a:srgbClr val="FF0000"/>
                  </a:solidFill>
                </a:rPr>
                <a:t>m</a:t>
              </a:r>
              <a:endParaRPr lang="es-E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F544D8F-BD57-4EC9-D566-83B4643F647F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A9E1FEA-EF33-4D0D-C853-A9D0B642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36BB69-5E6D-A555-E496-D74F3280CCE5}"/>
              </a:ext>
            </a:extLst>
          </p:cNvPr>
          <p:cNvSpPr txBox="1"/>
          <p:nvPr/>
        </p:nvSpPr>
        <p:spPr>
          <a:xfrm>
            <a:off x="5242031" y="723012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a) 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dirty="0"/>
              <a:t>c) 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 b="1" dirty="0">
                <a:solidFill>
                  <a:schemeClr val="accent2">
                    <a:lumMod val="75000"/>
                  </a:schemeClr>
                </a:solidFill>
              </a:rPr>
              <a:t>d) Unión soldada soporte-viga con angulares</a:t>
            </a:r>
          </a:p>
        </p:txBody>
      </p:sp>
    </p:spTree>
    <p:extLst>
      <p:ext uri="{BB962C8B-B14F-4D97-AF65-F5344CB8AC3E}">
        <p14:creationId xmlns:p14="http://schemas.microsoft.com/office/powerpoint/2010/main" val="18839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137E-E716-749D-5882-7040D9BF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4587CE-ACF1-07C3-B160-186394228A77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4BE41EF-01C4-24A3-10E5-73E212E96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</a:t>
            </a:r>
            <a:r>
              <a:rPr lang="es-ES" altLang="es-ES" sz="1600" b="1" dirty="0"/>
              <a:t>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98087B2D-3EEF-5B0B-BDC9-AA7A451D213F}"/>
              </a:ext>
            </a:extLst>
          </p:cNvPr>
          <p:cNvGrpSpPr>
            <a:grpSpLocks/>
          </p:cNvGrpSpPr>
          <p:nvPr/>
        </p:nvGrpSpPr>
        <p:grpSpPr bwMode="auto">
          <a:xfrm>
            <a:off x="381663" y="1613628"/>
            <a:ext cx="3383076" cy="4046089"/>
            <a:chOff x="385" y="1026"/>
            <a:chExt cx="1575" cy="1884"/>
          </a:xfrm>
        </p:grpSpPr>
        <p:pic>
          <p:nvPicPr>
            <p:cNvPr id="6" name="Picture 5" descr="EC9C9357">
              <a:extLst>
                <a:ext uri="{FF2B5EF4-FFF2-40B4-BE49-F238E27FC236}">
                  <a16:creationId xmlns:a16="http://schemas.microsoft.com/office/drawing/2014/main" id="{5AE187C0-44FB-3007-71A1-A6B6F24B0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" r="57198" b="62663"/>
            <a:stretch>
              <a:fillRect/>
            </a:stretch>
          </p:blipFill>
          <p:spPr bwMode="auto">
            <a:xfrm>
              <a:off x="385" y="1026"/>
              <a:ext cx="1575" cy="1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D7182CDC-97F7-3B86-6CBA-15E19A44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3288D577-6B6F-02C4-2722-DF1D5BCEA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071"/>
              <a:ext cx="453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0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89809161-7B8C-1E89-AED9-4FDC5873D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1071"/>
              <a:ext cx="454" cy="136"/>
            </a:xfrm>
            <a:custGeom>
              <a:avLst/>
              <a:gdLst>
                <a:gd name="T0" fmla="*/ 0 w 454"/>
                <a:gd name="T1" fmla="*/ 0 h 136"/>
                <a:gd name="T2" fmla="*/ 227 w 454"/>
                <a:gd name="T3" fmla="*/ 136 h 136"/>
                <a:gd name="T4" fmla="*/ 454 w 454"/>
                <a:gd name="T5" fmla="*/ 0 h 136"/>
                <a:gd name="T6" fmla="*/ 0 60000 65536"/>
                <a:gd name="T7" fmla="*/ 0 60000 65536"/>
                <a:gd name="T8" fmla="*/ 0 60000 65536"/>
                <a:gd name="T9" fmla="*/ 0 w 454"/>
                <a:gd name="T10" fmla="*/ 0 h 136"/>
                <a:gd name="T11" fmla="*/ 454 w 454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136">
                  <a:moveTo>
                    <a:pt x="0" y="0"/>
                  </a:moveTo>
                  <a:cubicBezTo>
                    <a:pt x="75" y="68"/>
                    <a:pt x="151" y="136"/>
                    <a:pt x="227" y="136"/>
                  </a:cubicBezTo>
                  <a:cubicBezTo>
                    <a:pt x="303" y="136"/>
                    <a:pt x="424" y="30"/>
                    <a:pt x="45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CD7B47D7-6AA3-4230-F055-3B2B488CB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3AE0C01D-DA02-B3D2-3C64-E7DEEF255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45862F01-6281-2C4E-4B76-3F8570374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1"/>
              <a:ext cx="40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altLang="es-ES" sz="1200"/>
                <a:t>+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922DEE5-3A07-FD4B-152A-277F041AD94F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5E3D8A7-08FC-E0A7-B369-1464907D208F}"/>
              </a:ext>
            </a:extLst>
          </p:cNvPr>
          <p:cNvSpPr txBox="1"/>
          <p:nvPr/>
        </p:nvSpPr>
        <p:spPr>
          <a:xfrm>
            <a:off x="5242031" y="723012"/>
            <a:ext cx="6949970" cy="836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/>
              <a:t>a) Unión soldada soporte-viga con soldadura directa de alma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/>
              <a:t>b) Unión soldada soporte-viga sobre apoyo no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/>
              <a:t>c) Unión soldada soporte-viga sobre apoyo rigidizado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200"/>
              <a:t>d) Unión soldada soporte-viga con angulares</a:t>
            </a:r>
          </a:p>
          <a:p>
            <a:pPr lvl="1">
              <a:lnSpc>
                <a:spcPct val="80000"/>
              </a:lnSpc>
            </a:pPr>
            <a:r>
              <a:rPr lang="es-ES" altLang="es-ES" sz="1200" b="1">
                <a:solidFill>
                  <a:schemeClr val="accent5">
                    <a:lumMod val="75000"/>
                  </a:schemeClr>
                </a:solidFill>
              </a:rPr>
              <a:t>e) Unión mixta soldada/atornillada soporte-viga con angulares</a:t>
            </a:r>
            <a:endParaRPr lang="es-ES" altLang="es-E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2541CD9-47BC-FD32-6BC3-3D0A3043D11A}"/>
              </a:ext>
            </a:extLst>
          </p:cNvPr>
          <p:cNvSpPr/>
          <p:nvPr/>
        </p:nvSpPr>
        <p:spPr>
          <a:xfrm>
            <a:off x="381663" y="2125064"/>
            <a:ext cx="3459939" cy="4227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5E013C-4D5C-ADD7-8777-6381300F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334" y="2336442"/>
            <a:ext cx="6866215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20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6FCDA-DA8A-289F-9862-E7A13754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FA6E94-F676-6938-F6A1-E5F1E15C2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>
                <a:solidFill>
                  <a:srgbClr val="C00000"/>
                </a:solidFill>
              </a:rPr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B8AE3B-05B0-704B-4A77-565B19EB9D2D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8C1C03A-CBD3-7C29-2C09-2EDC02A2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b="1" dirty="0"/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205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80D0-3BF1-BF77-DBCC-25DB4C0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CE31EB-DC55-C498-84D3-2CC26E4CA0EA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8A8117B-0BA9-637A-23B7-225E36A00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8A316F5-7EE2-308D-2604-0565EF6294D5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A85D7EB-E96F-0808-3B6E-406B52811B13}"/>
              </a:ext>
            </a:extLst>
          </p:cNvPr>
          <p:cNvSpPr txBox="1"/>
          <p:nvPr/>
        </p:nvSpPr>
        <p:spPr>
          <a:xfrm>
            <a:off x="3583352" y="687769"/>
            <a:ext cx="6949970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soporte compuesto</a:t>
            </a:r>
            <a:r>
              <a:rPr lang="es-ES" altLang="es-ES" sz="1200" dirty="0"/>
              <a:t>: formado por dos cordones (UPN </a:t>
            </a:r>
            <a:r>
              <a:rPr lang="es-ES" altLang="es-ES" sz="1200" dirty="0" err="1"/>
              <a:t>empresillados</a:t>
            </a:r>
            <a:r>
              <a:rPr lang="es-ES" altLang="es-ES" sz="1200" dirty="0"/>
              <a:t> abiertos). Presillas mínimas 4 (tres huecos)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D88013F-5056-2073-AA0A-19C0AA40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" y="1417644"/>
            <a:ext cx="3047544" cy="345558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33E5F1B-3A79-B7C9-633D-8C3D81A803E3}"/>
              </a:ext>
            </a:extLst>
          </p:cNvPr>
          <p:cNvSpPr/>
          <p:nvPr/>
        </p:nvSpPr>
        <p:spPr>
          <a:xfrm>
            <a:off x="62379" y="3920721"/>
            <a:ext cx="3047545" cy="4227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BF25AA7-4E55-423F-13E9-0D67880E8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086" y="1250911"/>
            <a:ext cx="8855207" cy="526587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0B97575-9ECD-DB0E-95FC-04515EA58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18" y="4990096"/>
            <a:ext cx="3795089" cy="1409822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BF54873-FC18-CC12-8659-7FEDE80ADE1E}"/>
              </a:ext>
            </a:extLst>
          </p:cNvPr>
          <p:cNvCxnSpPr/>
          <p:nvPr/>
        </p:nvCxnSpPr>
        <p:spPr>
          <a:xfrm>
            <a:off x="648586" y="6399918"/>
            <a:ext cx="89389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BA0044B-714B-7BA9-D9A5-A7B07821D5F1}"/>
              </a:ext>
            </a:extLst>
          </p:cNvPr>
          <p:cNvSpPr txBox="1"/>
          <p:nvPr/>
        </p:nvSpPr>
        <p:spPr>
          <a:xfrm>
            <a:off x="648586" y="6399918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300mm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54AFC38-6B30-86AC-829E-696D28F9192B}"/>
              </a:ext>
            </a:extLst>
          </p:cNvPr>
          <p:cNvCxnSpPr/>
          <p:nvPr/>
        </p:nvCxnSpPr>
        <p:spPr>
          <a:xfrm>
            <a:off x="1924493" y="5252484"/>
            <a:ext cx="0" cy="98882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961A051-07B8-D5BD-E438-06B356FE70EF}"/>
              </a:ext>
            </a:extLst>
          </p:cNvPr>
          <p:cNvSpPr txBox="1"/>
          <p:nvPr/>
        </p:nvSpPr>
        <p:spPr>
          <a:xfrm>
            <a:off x="1924493" y="5608398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200mm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366B025-9256-61DB-2C0C-3764883857C2}"/>
              </a:ext>
            </a:extLst>
          </p:cNvPr>
          <p:cNvSpPr txBox="1"/>
          <p:nvPr/>
        </p:nvSpPr>
        <p:spPr>
          <a:xfrm>
            <a:off x="3235842" y="3751034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100cm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0207553-0AF6-C321-4932-51B4CCF0ECDC}"/>
              </a:ext>
            </a:extLst>
          </p:cNvPr>
          <p:cNvSpPr txBox="1"/>
          <p:nvPr/>
        </p:nvSpPr>
        <p:spPr>
          <a:xfrm>
            <a:off x="4416233" y="4343478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410*250mm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1DB3EC5-3BE2-A9DA-67A0-9E9F7D74A095}"/>
              </a:ext>
            </a:extLst>
          </p:cNvPr>
          <p:cNvSpPr txBox="1"/>
          <p:nvPr/>
        </p:nvSpPr>
        <p:spPr>
          <a:xfrm>
            <a:off x="8356482" y="3290500"/>
            <a:ext cx="2176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40mm y longitud mayor del ala de la viga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8F778A2-94BF-E2CF-27C4-16E848B8FE2A}"/>
              </a:ext>
            </a:extLst>
          </p:cNvPr>
          <p:cNvSpPr txBox="1"/>
          <p:nvPr/>
        </p:nvSpPr>
        <p:spPr>
          <a:xfrm>
            <a:off x="5547360" y="3653016"/>
            <a:ext cx="17145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000" dirty="0">
                <a:solidFill>
                  <a:srgbClr val="FF0000"/>
                </a:solidFill>
              </a:rPr>
              <a:t>Soldado a tope al soporte</a:t>
            </a:r>
            <a:endParaRPr lang="es-ES" sz="1000" dirty="0">
              <a:solidFill>
                <a:srgbClr val="FF000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92B20AE-7971-95C7-8C94-69F0F7782FB0}"/>
              </a:ext>
            </a:extLst>
          </p:cNvPr>
          <p:cNvSpPr txBox="1"/>
          <p:nvPr/>
        </p:nvSpPr>
        <p:spPr>
          <a:xfrm>
            <a:off x="2264343" y="6271199"/>
            <a:ext cx="3641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Cordones de soldadura, </a:t>
            </a:r>
            <a:r>
              <a:rPr lang="es-ES" altLang="es-ES" sz="1200" b="1" dirty="0">
                <a:solidFill>
                  <a:srgbClr val="FF0000"/>
                </a:solidFill>
              </a:rPr>
              <a:t>garganta</a:t>
            </a:r>
            <a:r>
              <a:rPr lang="es-ES" altLang="es-ES" sz="1200" dirty="0">
                <a:solidFill>
                  <a:srgbClr val="FF0000"/>
                </a:solidFill>
              </a:rPr>
              <a:t> (g) 5mm. La garganta es función de los espesores (e) a unir, puede considerarse como </a:t>
            </a:r>
            <a:r>
              <a:rPr lang="es-ES" altLang="es-ES" sz="1200" b="1" dirty="0">
                <a:solidFill>
                  <a:srgbClr val="FF0000"/>
                </a:solidFill>
              </a:rPr>
              <a:t>máxima g≈0,6e</a:t>
            </a:r>
            <a:endParaRPr lang="es-ES" sz="1200" b="1" dirty="0">
              <a:solidFill>
                <a:srgbClr val="FF0000"/>
              </a:solidFill>
            </a:endParaRPr>
          </a:p>
        </p:txBody>
      </p:sp>
      <p:sp>
        <p:nvSpPr>
          <p:cNvPr id="34" name="Triángulo rectángulo 33">
            <a:extLst>
              <a:ext uri="{FF2B5EF4-FFF2-40B4-BE49-F238E27FC236}">
                <a16:creationId xmlns:a16="http://schemas.microsoft.com/office/drawing/2014/main" id="{2DF5F2DB-927A-2B65-44AF-7769B3DC41C3}"/>
              </a:ext>
            </a:extLst>
          </p:cNvPr>
          <p:cNvSpPr/>
          <p:nvPr/>
        </p:nvSpPr>
        <p:spPr>
          <a:xfrm>
            <a:off x="5948637" y="6127895"/>
            <a:ext cx="612618" cy="544046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B774570-210C-80AB-6F0B-A8F1FE928F48}"/>
              </a:ext>
            </a:extLst>
          </p:cNvPr>
          <p:cNvCxnSpPr>
            <a:endCxn id="34" idx="5"/>
          </p:cNvCxnSpPr>
          <p:nvPr/>
        </p:nvCxnSpPr>
        <p:spPr>
          <a:xfrm flipV="1">
            <a:off x="5981700" y="6399918"/>
            <a:ext cx="273246" cy="2769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Imagen 37">
            <a:extLst>
              <a:ext uri="{FF2B5EF4-FFF2-40B4-BE49-F238E27FC236}">
                <a16:creationId xmlns:a16="http://schemas.microsoft.com/office/drawing/2014/main" id="{64438EBE-8CF8-8A22-EEA2-AEF2509A7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7" y="668329"/>
            <a:ext cx="2110923" cy="2225233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747A16B9-D47C-CC54-98C4-85AFD6C89FB7}"/>
              </a:ext>
            </a:extLst>
          </p:cNvPr>
          <p:cNvSpPr txBox="1"/>
          <p:nvPr/>
        </p:nvSpPr>
        <p:spPr>
          <a:xfrm>
            <a:off x="9069097" y="4165670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40mm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0945685-CCAC-B1E2-EC1B-10B86DE4374A}"/>
              </a:ext>
            </a:extLst>
          </p:cNvPr>
          <p:cNvSpPr/>
          <p:nvPr/>
        </p:nvSpPr>
        <p:spPr>
          <a:xfrm>
            <a:off x="7696585" y="2233914"/>
            <a:ext cx="45719" cy="65964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6EF8A6F-917D-EAEF-7585-A1C2BDC0F5BF}"/>
              </a:ext>
            </a:extLst>
          </p:cNvPr>
          <p:cNvSpPr txBox="1"/>
          <p:nvPr/>
        </p:nvSpPr>
        <p:spPr>
          <a:xfrm>
            <a:off x="7696585" y="2245158"/>
            <a:ext cx="1574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Rigidizar alma viga</a:t>
            </a:r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097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2127-9121-DF6E-DC0D-92BF75B6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6A2650-6696-7A33-3D29-E9B0FD9A5FFE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A19B4A9-DF2D-D17C-2593-2CF40E84E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89568E5-D80D-9F3A-B138-CECBD688CCE6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7E11B4B-5755-A540-444E-9C5F54957348}"/>
              </a:ext>
            </a:extLst>
          </p:cNvPr>
          <p:cNvSpPr txBox="1"/>
          <p:nvPr/>
        </p:nvSpPr>
        <p:spPr>
          <a:xfrm>
            <a:off x="3583352" y="687769"/>
            <a:ext cx="6949970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soporte compuesto</a:t>
            </a:r>
            <a:r>
              <a:rPr lang="es-ES" altLang="es-ES" sz="1200" dirty="0"/>
              <a:t>: formado por dos cordones (UPN </a:t>
            </a:r>
            <a:r>
              <a:rPr lang="es-ES" altLang="es-ES" sz="1200" dirty="0" err="1"/>
              <a:t>empresillados</a:t>
            </a:r>
            <a:r>
              <a:rPr lang="es-ES" altLang="es-ES" sz="1200" dirty="0"/>
              <a:t> abiertos). Presillas mínimas 4 (tres huecos)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B2D6C58-06D2-C5D2-2E04-EB2CADFEA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" y="1417644"/>
            <a:ext cx="3047544" cy="345558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4EB6182F-F988-2DE9-C1C1-4912042B767D}"/>
              </a:ext>
            </a:extLst>
          </p:cNvPr>
          <p:cNvSpPr/>
          <p:nvPr/>
        </p:nvSpPr>
        <p:spPr>
          <a:xfrm>
            <a:off x="62379" y="3920721"/>
            <a:ext cx="3047545" cy="4227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DF2B855-AF0C-5EBA-0C15-25534F66C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18" y="4990096"/>
            <a:ext cx="3795089" cy="1409822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26D5F6D-E521-7B66-62CB-0319A9FDB719}"/>
              </a:ext>
            </a:extLst>
          </p:cNvPr>
          <p:cNvCxnSpPr/>
          <p:nvPr/>
        </p:nvCxnSpPr>
        <p:spPr>
          <a:xfrm>
            <a:off x="648586" y="6399918"/>
            <a:ext cx="89389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03AB02F-D3FA-C050-42A8-8FD2D4B0C1E6}"/>
              </a:ext>
            </a:extLst>
          </p:cNvPr>
          <p:cNvSpPr txBox="1"/>
          <p:nvPr/>
        </p:nvSpPr>
        <p:spPr>
          <a:xfrm>
            <a:off x="648586" y="6399918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300mm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426302E-2948-827C-675F-B65025D77DCA}"/>
              </a:ext>
            </a:extLst>
          </p:cNvPr>
          <p:cNvCxnSpPr/>
          <p:nvPr/>
        </p:nvCxnSpPr>
        <p:spPr>
          <a:xfrm>
            <a:off x="1924493" y="5252484"/>
            <a:ext cx="0" cy="98882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76456DE-8E0B-F09E-E02A-994DE490D0ED}"/>
              </a:ext>
            </a:extLst>
          </p:cNvPr>
          <p:cNvSpPr txBox="1"/>
          <p:nvPr/>
        </p:nvSpPr>
        <p:spPr>
          <a:xfrm>
            <a:off x="1924493" y="5608398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200mm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E054052-FA75-1B1D-924C-BF719A74B28C}"/>
              </a:ext>
            </a:extLst>
          </p:cNvPr>
          <p:cNvSpPr txBox="1"/>
          <p:nvPr/>
        </p:nvSpPr>
        <p:spPr>
          <a:xfrm>
            <a:off x="2264343" y="6271199"/>
            <a:ext cx="3641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Cordones de soldadura, </a:t>
            </a:r>
            <a:r>
              <a:rPr lang="es-ES" altLang="es-ES" sz="1200" b="1" dirty="0">
                <a:solidFill>
                  <a:srgbClr val="FF0000"/>
                </a:solidFill>
              </a:rPr>
              <a:t>garganta</a:t>
            </a:r>
            <a:r>
              <a:rPr lang="es-ES" altLang="es-ES" sz="1200" dirty="0">
                <a:solidFill>
                  <a:srgbClr val="FF0000"/>
                </a:solidFill>
              </a:rPr>
              <a:t> (g) 5mm. La garganta es función de los espesores (e) a unir, puede considerarse como </a:t>
            </a:r>
            <a:r>
              <a:rPr lang="es-ES" altLang="es-ES" sz="1200" b="1" dirty="0">
                <a:solidFill>
                  <a:srgbClr val="FF0000"/>
                </a:solidFill>
              </a:rPr>
              <a:t>máxima g≈0,6e</a:t>
            </a:r>
            <a:endParaRPr lang="es-ES" sz="1200" b="1" dirty="0">
              <a:solidFill>
                <a:srgbClr val="FF0000"/>
              </a:solidFill>
            </a:endParaRPr>
          </a:p>
        </p:txBody>
      </p:sp>
      <p:sp>
        <p:nvSpPr>
          <p:cNvPr id="34" name="Triángulo rectángulo 33">
            <a:extLst>
              <a:ext uri="{FF2B5EF4-FFF2-40B4-BE49-F238E27FC236}">
                <a16:creationId xmlns:a16="http://schemas.microsoft.com/office/drawing/2014/main" id="{6C3C3F73-9EC6-2CFD-366E-92128BD3D2F8}"/>
              </a:ext>
            </a:extLst>
          </p:cNvPr>
          <p:cNvSpPr/>
          <p:nvPr/>
        </p:nvSpPr>
        <p:spPr>
          <a:xfrm>
            <a:off x="5948637" y="6127895"/>
            <a:ext cx="612618" cy="544046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989CD1BC-AA14-C737-9308-83DB34D38EF0}"/>
              </a:ext>
            </a:extLst>
          </p:cNvPr>
          <p:cNvCxnSpPr>
            <a:endCxn id="34" idx="5"/>
          </p:cNvCxnSpPr>
          <p:nvPr/>
        </p:nvCxnSpPr>
        <p:spPr>
          <a:xfrm flipV="1">
            <a:off x="5981700" y="6399918"/>
            <a:ext cx="273246" cy="2769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Imagen 37">
            <a:extLst>
              <a:ext uri="{FF2B5EF4-FFF2-40B4-BE49-F238E27FC236}">
                <a16:creationId xmlns:a16="http://schemas.microsoft.com/office/drawing/2014/main" id="{D662DA72-47F4-6BA8-FA50-CFEF5CD54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7" y="668329"/>
            <a:ext cx="2110923" cy="222523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387C862-F736-7F46-86FE-C5A3808DB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2400" y="809509"/>
            <a:ext cx="5019625" cy="60484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12BEB3-93F8-0D0D-DA1D-B9152D981C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250" y="1096347"/>
            <a:ext cx="8479178" cy="489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73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967D-E26C-F40D-4367-805A5660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D093FC-0760-8F55-5D0A-01635141893C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F5F2620-1017-B066-FA13-1246559F7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b="1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8869A28-DC22-7DAE-8DE2-9624593FCDBB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677860E-49C8-05E2-7530-26A98AD5D088}"/>
              </a:ext>
            </a:extLst>
          </p:cNvPr>
          <p:cNvSpPr txBox="1"/>
          <p:nvPr/>
        </p:nvSpPr>
        <p:spPr>
          <a:xfrm>
            <a:off x="3583352" y="687769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compuesto: formado por dos cordones (UPN </a:t>
            </a:r>
            <a:r>
              <a:rPr lang="es-ES" altLang="es-ES" sz="1200" dirty="0" err="1"/>
              <a:t>empresillados</a:t>
            </a:r>
            <a:r>
              <a:rPr lang="es-ES" altLang="es-ES" sz="1200" dirty="0"/>
              <a:t> abiertos). 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soporte simple: se dispone una VIGA GEMELA, </a:t>
            </a:r>
            <a:r>
              <a:rPr lang="es-ES" altLang="es-ES" sz="1200" dirty="0">
                <a:solidFill>
                  <a:srgbClr val="C00000"/>
                </a:solidFill>
              </a:rPr>
              <a:t>dos vigas de la misma serie y canto (</a:t>
            </a:r>
            <a:r>
              <a:rPr lang="es-ES" altLang="es-ES" sz="1200" dirty="0" err="1">
                <a:solidFill>
                  <a:srgbClr val="C00000"/>
                </a:solidFill>
              </a:rPr>
              <a:t>empresilladas</a:t>
            </a:r>
            <a:r>
              <a:rPr lang="es-ES" altLang="es-ES" sz="1200" dirty="0">
                <a:solidFill>
                  <a:srgbClr val="C00000"/>
                </a:solidFill>
              </a:rPr>
              <a:t>) colocadas a ambos lados del soporte apoyadas en angulares o perfiles soldados al pilar.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F6E6BFC-4E65-5536-C3F3-E4551D1F447E}"/>
              </a:ext>
            </a:extLst>
          </p:cNvPr>
          <p:cNvSpPr txBox="1"/>
          <p:nvPr/>
        </p:nvSpPr>
        <p:spPr>
          <a:xfrm>
            <a:off x="3235842" y="3751034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100cm</a:t>
            </a:r>
            <a:endParaRPr lang="es-ES" sz="12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EA2B68-77CA-65C2-1468-8754ADF7F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2" t="10893" r="20050" b="15118"/>
          <a:stretch>
            <a:fillRect/>
          </a:stretch>
        </p:blipFill>
        <p:spPr>
          <a:xfrm>
            <a:off x="982836" y="2034830"/>
            <a:ext cx="4383932" cy="32606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513C55-8661-96EF-4E0A-E31936C4D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122" y="2034830"/>
            <a:ext cx="4410042" cy="326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91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182D-EFBC-B3C0-2B78-E46A12AF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98BB786-B7BB-44B9-CDA1-8870E9672560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2EC5928-C2B4-0152-0557-C503EE41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b="1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BD1C87D-18FC-1978-27C6-EC7000BD030E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10AFE71-AF2A-C652-56E5-88250D71936E}"/>
              </a:ext>
            </a:extLst>
          </p:cNvPr>
          <p:cNvSpPr txBox="1"/>
          <p:nvPr/>
        </p:nvSpPr>
        <p:spPr>
          <a:xfrm>
            <a:off x="3583352" y="687769"/>
            <a:ext cx="6949970" cy="98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compuesto: formado por dos cordones (UPN </a:t>
            </a:r>
            <a:r>
              <a:rPr lang="es-ES" altLang="es-ES" sz="1200" dirty="0" err="1"/>
              <a:t>empresillados</a:t>
            </a:r>
            <a:r>
              <a:rPr lang="es-ES" altLang="es-ES" sz="1200" dirty="0"/>
              <a:t> abiertos). 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/>
              <a:t>Caso soporte simple: se dispone una VIGA GEMELA, </a:t>
            </a:r>
            <a:r>
              <a:rPr lang="es-ES" altLang="es-ES" sz="1200" dirty="0"/>
              <a:t>dos vigas de la misma serie y canto (</a:t>
            </a:r>
            <a:r>
              <a:rPr lang="es-ES" altLang="es-ES" sz="1200" dirty="0" err="1"/>
              <a:t>empresilladas</a:t>
            </a:r>
            <a:r>
              <a:rPr lang="es-ES" altLang="es-ES" sz="1200" dirty="0"/>
              <a:t>) colocadas a ambos lados del soporte apoyadas en angulares o perfiles soldados al pilar. </a:t>
            </a:r>
          </a:p>
          <a:p>
            <a:pPr marL="685800" lvl="1" indent="-228600">
              <a:lnSpc>
                <a:spcPct val="80000"/>
              </a:lnSpc>
              <a:buFontTx/>
              <a:buAutoNum type="alphaLcParenR"/>
            </a:pPr>
            <a:r>
              <a:rPr lang="es-ES" altLang="es-ES" sz="1200" dirty="0">
                <a:solidFill>
                  <a:srgbClr val="C00000"/>
                </a:solidFill>
              </a:rPr>
              <a:t>Caso de soporte compuesto (</a:t>
            </a:r>
            <a:r>
              <a:rPr lang="es-ES" altLang="es-ES" sz="1200" dirty="0" err="1">
                <a:solidFill>
                  <a:srgbClr val="C00000"/>
                </a:solidFill>
              </a:rPr>
              <a:t>empresillado</a:t>
            </a:r>
            <a:r>
              <a:rPr lang="es-ES" altLang="es-ES" sz="1200" dirty="0">
                <a:solidFill>
                  <a:srgbClr val="C00000"/>
                </a:solidFill>
              </a:rPr>
              <a:t> cerrado) + </a:t>
            </a:r>
            <a:r>
              <a:rPr lang="es-ES" altLang="es-ES" sz="1200" b="1" dirty="0">
                <a:solidFill>
                  <a:srgbClr val="C00000"/>
                </a:solidFill>
              </a:rPr>
              <a:t>VIGA GEMELA, y además con/sin JUNTA DE DILATACIÓN</a:t>
            </a:r>
            <a:endParaRPr lang="es-ES" altLang="es-ES" sz="1200" dirty="0">
              <a:solidFill>
                <a:srgbClr val="C0000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1343A46-033E-09E4-BCF1-06BC8BDDF924}"/>
              </a:ext>
            </a:extLst>
          </p:cNvPr>
          <p:cNvSpPr txBox="1"/>
          <p:nvPr/>
        </p:nvSpPr>
        <p:spPr>
          <a:xfrm>
            <a:off x="3235842" y="3751034"/>
            <a:ext cx="999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200" dirty="0">
                <a:solidFill>
                  <a:srgbClr val="FF0000"/>
                </a:solidFill>
              </a:rPr>
              <a:t>100cm</a:t>
            </a:r>
            <a:endParaRPr lang="es-ES" sz="12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91C420-7B7C-0F2D-9554-E98DC1374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2" t="10893" r="20050" b="15118"/>
          <a:stretch>
            <a:fillRect/>
          </a:stretch>
        </p:blipFill>
        <p:spPr>
          <a:xfrm>
            <a:off x="134906" y="754229"/>
            <a:ext cx="3047544" cy="2266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E27710-E8FC-40AB-9390-A9450AF23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25" y="3310059"/>
            <a:ext cx="4122777" cy="3048264"/>
          </a:xfrm>
          <a:prstGeom prst="rect">
            <a:avLst/>
          </a:prstGeom>
        </p:spPr>
      </p:pic>
      <p:pic>
        <p:nvPicPr>
          <p:cNvPr id="8" name="Imagen 1">
            <a:extLst>
              <a:ext uri="{FF2B5EF4-FFF2-40B4-BE49-F238E27FC236}">
                <a16:creationId xmlns:a16="http://schemas.microsoft.com/office/drawing/2014/main" id="{AE0BCAFC-6071-7B8F-4820-44C3C2AE1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5" t="6738" r="1966"/>
          <a:stretch>
            <a:fillRect/>
          </a:stretch>
        </p:blipFill>
        <p:spPr bwMode="auto">
          <a:xfrm>
            <a:off x="5660300" y="1719843"/>
            <a:ext cx="6163113" cy="479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5981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6AB4-28EA-4F42-62D1-36E70F3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7F9CA4-D896-BF9C-4072-35611AF23345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032D569-CAB6-DC1B-B084-E4A599E5E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</a:t>
            </a:r>
            <a:r>
              <a:rPr lang="es-ES" altLang="es-ES" sz="1600" b="1" dirty="0"/>
              <a:t>VIGAS CONTINUAS (ISOSTÁTICAS-nudos articulados)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b="1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4C53645-DB8B-EA3A-575B-3CDA54CE0C74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409C84D-E7D8-D6D7-6438-C70EE8432EA1}"/>
              </a:ext>
            </a:extLst>
          </p:cNvPr>
          <p:cNvSpPr txBox="1"/>
          <p:nvPr/>
        </p:nvSpPr>
        <p:spPr>
          <a:xfrm>
            <a:off x="3583352" y="687769"/>
            <a:ext cx="6949970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compuesto: formado por dos cordones (UPN </a:t>
            </a:r>
            <a:r>
              <a:rPr lang="es-ES" altLang="es-ES" sz="1200" dirty="0" err="1"/>
              <a:t>empresillados</a:t>
            </a:r>
            <a:r>
              <a:rPr lang="es-ES" altLang="es-ES" sz="1200" dirty="0"/>
              <a:t> abiertos). 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/>
              <a:t>Caso soporte simple: se dispone una VIGA GEMELA, </a:t>
            </a:r>
            <a:r>
              <a:rPr lang="es-ES" altLang="es-ES" sz="1200" dirty="0"/>
              <a:t>dos vigas de la misma serie y canto (</a:t>
            </a:r>
            <a:r>
              <a:rPr lang="es-ES" altLang="es-ES" sz="1200" dirty="0" err="1"/>
              <a:t>empresilladas</a:t>
            </a:r>
            <a:r>
              <a:rPr lang="es-ES" altLang="es-ES" sz="1200" dirty="0"/>
              <a:t>) colocadas a ambos lados del soporte apoyadas en angulares o perfiles soldados al pilar. </a:t>
            </a:r>
          </a:p>
          <a:p>
            <a:pPr marL="685800" lvl="1" indent="-228600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compuesto (</a:t>
            </a:r>
            <a:r>
              <a:rPr lang="es-ES" altLang="es-ES" sz="1200" dirty="0" err="1"/>
              <a:t>empresillado</a:t>
            </a:r>
            <a:r>
              <a:rPr lang="es-ES" altLang="es-ES" sz="1200" dirty="0"/>
              <a:t> cerrado) + </a:t>
            </a:r>
            <a:r>
              <a:rPr lang="es-ES" altLang="es-ES" sz="1200" b="1" dirty="0"/>
              <a:t>VIGA GEMELA, y además JUNTA DE DILATACIÓN</a:t>
            </a:r>
          </a:p>
          <a:p>
            <a:pPr marL="685800" lvl="1" indent="-228600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soporte simple + VIGA SIMPLE, en este caso el pilar no tiene continuidad y la viga se apoya sobre un redondo  rectangular macizo</a:t>
            </a:r>
            <a:endParaRPr lang="es-ES" altLang="es-ES" sz="1200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9C04D2D-CA9A-9819-1E2B-061BC5E5120B}"/>
              </a:ext>
            </a:extLst>
          </p:cNvPr>
          <p:cNvSpPr/>
          <p:nvPr/>
        </p:nvSpPr>
        <p:spPr>
          <a:xfrm>
            <a:off x="5770880" y="3972560"/>
            <a:ext cx="1178560" cy="23571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AF2CB8A-0F45-182F-21FB-1BDD51D19667}"/>
              </a:ext>
            </a:extLst>
          </p:cNvPr>
          <p:cNvSpPr/>
          <p:nvPr/>
        </p:nvSpPr>
        <p:spPr>
          <a:xfrm>
            <a:off x="5618480" y="3860800"/>
            <a:ext cx="1478280" cy="1117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B9FB6A-B1A4-A818-47C8-15F7443D3597}"/>
              </a:ext>
            </a:extLst>
          </p:cNvPr>
          <p:cNvSpPr txBox="1"/>
          <p:nvPr/>
        </p:nvSpPr>
        <p:spPr>
          <a:xfrm>
            <a:off x="4588510" y="4011860"/>
            <a:ext cx="1029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Vuelo chapa 10-15mm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DEFE562-179D-413D-0D61-B17658AA0233}"/>
              </a:ext>
            </a:extLst>
          </p:cNvPr>
          <p:cNvGrpSpPr/>
          <p:nvPr/>
        </p:nvGrpSpPr>
        <p:grpSpPr>
          <a:xfrm>
            <a:off x="4569460" y="2816999"/>
            <a:ext cx="3987800" cy="932040"/>
            <a:chOff x="4551680" y="2928759"/>
            <a:chExt cx="3987800" cy="932040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B7A67F6-83DC-9AC1-04FF-B0CF4769260C}"/>
                </a:ext>
              </a:extLst>
            </p:cNvPr>
            <p:cNvSpPr/>
            <p:nvPr/>
          </p:nvSpPr>
          <p:spPr>
            <a:xfrm>
              <a:off x="4551680" y="3815080"/>
              <a:ext cx="3987800" cy="4571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54876DDE-8B77-881D-3DA3-29276998806E}"/>
                </a:ext>
              </a:extLst>
            </p:cNvPr>
            <p:cNvSpPr/>
            <p:nvPr/>
          </p:nvSpPr>
          <p:spPr>
            <a:xfrm>
              <a:off x="4551680" y="2928759"/>
              <a:ext cx="3987800" cy="4571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2B5E23D0-4D7F-ECA5-391E-BB45FB0D7E8A}"/>
                </a:ext>
              </a:extLst>
            </p:cNvPr>
            <p:cNvSpPr/>
            <p:nvPr/>
          </p:nvSpPr>
          <p:spPr>
            <a:xfrm>
              <a:off x="4551680" y="2974478"/>
              <a:ext cx="3987800" cy="8406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" name="Elipse 17">
            <a:extLst>
              <a:ext uri="{FF2B5EF4-FFF2-40B4-BE49-F238E27FC236}">
                <a16:creationId xmlns:a16="http://schemas.microsoft.com/office/drawing/2014/main" id="{FA87AFBC-10DA-00FF-43C7-967848F94BCF}"/>
              </a:ext>
            </a:extLst>
          </p:cNvPr>
          <p:cNvSpPr/>
          <p:nvPr/>
        </p:nvSpPr>
        <p:spPr>
          <a:xfrm>
            <a:off x="6301740" y="3766819"/>
            <a:ext cx="71118" cy="762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Triángulo rectángulo 19">
            <a:extLst>
              <a:ext uri="{FF2B5EF4-FFF2-40B4-BE49-F238E27FC236}">
                <a16:creationId xmlns:a16="http://schemas.microsoft.com/office/drawing/2014/main" id="{CD6595CF-9CC8-6DA4-AA8F-086CDA6513C2}"/>
              </a:ext>
            </a:extLst>
          </p:cNvPr>
          <p:cNvSpPr/>
          <p:nvPr/>
        </p:nvSpPr>
        <p:spPr>
          <a:xfrm>
            <a:off x="6391910" y="3797301"/>
            <a:ext cx="45719" cy="45719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2" name="Triángulo rectángulo 21">
            <a:extLst>
              <a:ext uri="{FF2B5EF4-FFF2-40B4-BE49-F238E27FC236}">
                <a16:creationId xmlns:a16="http://schemas.microsoft.com/office/drawing/2014/main" id="{19080FB5-2476-2B30-7C28-C3A772C7DAF2}"/>
              </a:ext>
            </a:extLst>
          </p:cNvPr>
          <p:cNvSpPr/>
          <p:nvPr/>
        </p:nvSpPr>
        <p:spPr>
          <a:xfrm rot="16200000">
            <a:off x="6239511" y="3799841"/>
            <a:ext cx="45719" cy="45719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96411EF8-579A-4580-D5C7-8CAA8F205168}"/>
              </a:ext>
            </a:extLst>
          </p:cNvPr>
          <p:cNvGrpSpPr/>
          <p:nvPr/>
        </p:nvGrpSpPr>
        <p:grpSpPr>
          <a:xfrm>
            <a:off x="8954768" y="2816999"/>
            <a:ext cx="1478280" cy="3501502"/>
            <a:chOff x="8431530" y="2828178"/>
            <a:chExt cx="1478280" cy="3501502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FFA6E723-8B5E-CCEA-EB36-71CD2BA743E6}"/>
                </a:ext>
              </a:extLst>
            </p:cNvPr>
            <p:cNvGrpSpPr/>
            <p:nvPr/>
          </p:nvGrpSpPr>
          <p:grpSpPr>
            <a:xfrm>
              <a:off x="8873173" y="2828178"/>
              <a:ext cx="588645" cy="932040"/>
              <a:chOff x="8865235" y="2816999"/>
              <a:chExt cx="588645" cy="932040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FA0D0BB-77D1-9D54-A468-0FFB04B179D0}"/>
                  </a:ext>
                </a:extLst>
              </p:cNvPr>
              <p:cNvSpPr/>
              <p:nvPr/>
            </p:nvSpPr>
            <p:spPr>
              <a:xfrm>
                <a:off x="8865235" y="2816999"/>
                <a:ext cx="561340" cy="4571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4530DF2F-B0C4-ABAB-D3C8-6F374196A0C7}"/>
                  </a:ext>
                </a:extLst>
              </p:cNvPr>
              <p:cNvSpPr/>
              <p:nvPr/>
            </p:nvSpPr>
            <p:spPr>
              <a:xfrm>
                <a:off x="8892540" y="3703320"/>
                <a:ext cx="561340" cy="4571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9762A73D-B2EE-1844-D471-A69339507377}"/>
                  </a:ext>
                </a:extLst>
              </p:cNvPr>
              <p:cNvSpPr/>
              <p:nvPr/>
            </p:nvSpPr>
            <p:spPr>
              <a:xfrm rot="5400000">
                <a:off x="8735695" y="3265806"/>
                <a:ext cx="829310" cy="4571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1" name="Triángulo rectángulo 30">
                <a:extLst>
                  <a:ext uri="{FF2B5EF4-FFF2-40B4-BE49-F238E27FC236}">
                    <a16:creationId xmlns:a16="http://schemas.microsoft.com/office/drawing/2014/main" id="{9119D785-8822-E73A-19BC-C46ACACF81DE}"/>
                  </a:ext>
                </a:extLst>
              </p:cNvPr>
              <p:cNvSpPr/>
              <p:nvPr/>
            </p:nvSpPr>
            <p:spPr>
              <a:xfrm>
                <a:off x="9187168" y="3640456"/>
                <a:ext cx="45719" cy="45719"/>
              </a:xfrm>
              <a:prstGeom prst="rt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Triángulo rectángulo 31">
                <a:extLst>
                  <a:ext uri="{FF2B5EF4-FFF2-40B4-BE49-F238E27FC236}">
                    <a16:creationId xmlns:a16="http://schemas.microsoft.com/office/drawing/2014/main" id="{F78BEB80-DCDD-B9EA-2F8A-137FDE9C0BF6}"/>
                  </a:ext>
                </a:extLst>
              </p:cNvPr>
              <p:cNvSpPr/>
              <p:nvPr/>
            </p:nvSpPr>
            <p:spPr>
              <a:xfrm rot="16200000" flipH="1" flipV="1">
                <a:off x="9187168" y="2883039"/>
                <a:ext cx="45719" cy="45719"/>
              </a:xfrm>
              <a:prstGeom prst="rt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23A4427D-ECCD-A03D-314C-A6293E93AC9E}"/>
                </a:ext>
              </a:extLst>
            </p:cNvPr>
            <p:cNvSpPr/>
            <p:nvPr/>
          </p:nvSpPr>
          <p:spPr>
            <a:xfrm>
              <a:off x="8583930" y="3972560"/>
              <a:ext cx="1178560" cy="23571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804D2DA0-82DA-CAF3-6EAE-D8A6B6D8CC0A}"/>
                </a:ext>
              </a:extLst>
            </p:cNvPr>
            <p:cNvSpPr/>
            <p:nvPr/>
          </p:nvSpPr>
          <p:spPr>
            <a:xfrm>
              <a:off x="8431530" y="3860800"/>
              <a:ext cx="1478280" cy="1117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FEB719F-4AC5-16F0-13F5-49ED2E347C08}"/>
                </a:ext>
              </a:extLst>
            </p:cNvPr>
            <p:cNvSpPr/>
            <p:nvPr/>
          </p:nvSpPr>
          <p:spPr>
            <a:xfrm>
              <a:off x="8790941" y="3774949"/>
              <a:ext cx="767092" cy="71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66EF2526-BDC7-A678-74AF-E40F376C65E5}"/>
                </a:ext>
              </a:extLst>
            </p:cNvPr>
            <p:cNvCxnSpPr>
              <a:cxnSpLocks/>
            </p:cNvCxnSpPr>
            <p:nvPr/>
          </p:nvCxnSpPr>
          <p:spPr>
            <a:xfrm>
              <a:off x="8790941" y="3827145"/>
              <a:ext cx="76709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92E6A8C-057B-7C97-33A4-33F3BB64DFF4}"/>
              </a:ext>
            </a:extLst>
          </p:cNvPr>
          <p:cNvSpPr/>
          <p:nvPr/>
        </p:nvSpPr>
        <p:spPr>
          <a:xfrm rot="5400000">
            <a:off x="5937885" y="3254513"/>
            <a:ext cx="829310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35C51295-A947-A326-52A8-144061BDC9A9}"/>
              </a:ext>
            </a:extLst>
          </p:cNvPr>
          <p:cNvCxnSpPr>
            <a:cxnSpLocks/>
          </p:cNvCxnSpPr>
          <p:nvPr/>
        </p:nvCxnSpPr>
        <p:spPr>
          <a:xfrm>
            <a:off x="6391269" y="2873897"/>
            <a:ext cx="0" cy="81813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51A6237-2AF7-7E2E-3AA6-5BADE0FD06D6}"/>
              </a:ext>
            </a:extLst>
          </p:cNvPr>
          <p:cNvCxnSpPr>
            <a:cxnSpLocks/>
          </p:cNvCxnSpPr>
          <p:nvPr/>
        </p:nvCxnSpPr>
        <p:spPr>
          <a:xfrm>
            <a:off x="4569460" y="2402840"/>
            <a:ext cx="0" cy="17475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BF75A90-201A-193E-E22A-407F0E96BFAF}"/>
              </a:ext>
            </a:extLst>
          </p:cNvPr>
          <p:cNvCxnSpPr>
            <a:cxnSpLocks/>
          </p:cNvCxnSpPr>
          <p:nvPr/>
        </p:nvCxnSpPr>
        <p:spPr>
          <a:xfrm>
            <a:off x="8564880" y="2448182"/>
            <a:ext cx="0" cy="17475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2460027-2308-FCB3-4B15-2BD27290DAC3}"/>
              </a:ext>
            </a:extLst>
          </p:cNvPr>
          <p:cNvSpPr/>
          <p:nvPr/>
        </p:nvSpPr>
        <p:spPr>
          <a:xfrm>
            <a:off x="7536153" y="4011860"/>
            <a:ext cx="106678" cy="9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2869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3E88-1D9C-58DC-1E99-4697A217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1C2E021-F579-89D5-5928-9FD3AE091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>
                <a:solidFill>
                  <a:srgbClr val="C00000"/>
                </a:solidFill>
              </a:rPr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51FB75-4308-6B08-3609-1E2E1D849A1A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9FF3A3F-41E6-2A43-7501-50AEA4452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</a:t>
            </a:r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4078694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75BC-0EC5-3D61-DD3F-853435EB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CFB83A-AF73-1B1B-AABB-369FF45970C5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8CDB9DC-ADE5-85CD-2C12-EBAE7AFF0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</a:t>
            </a:r>
            <a:r>
              <a:rPr lang="es-ES" altLang="es-ES" sz="1600" b="1" dirty="0"/>
              <a:t>HIPERESTÁTICAS (nudos RÍGIDOS)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70F7B2-9CF6-6B7A-DFF0-836A742CD1E7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855AF0-689D-1F58-05E4-AF4805740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7" y="1"/>
            <a:ext cx="2014778" cy="225410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701F9C3-F7CE-9DD2-D5D5-F81AB512A811}"/>
              </a:ext>
            </a:extLst>
          </p:cNvPr>
          <p:cNvSpPr txBox="1"/>
          <p:nvPr/>
        </p:nvSpPr>
        <p:spPr>
          <a:xfrm>
            <a:off x="9672320" y="594360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Caso que la viga sea de mayor sección que el soporte, rigidizadores trapezoidales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FCB089-E968-A0BB-D3C1-864C825AB0C6}"/>
              </a:ext>
            </a:extLst>
          </p:cNvPr>
          <p:cNvSpPr txBox="1"/>
          <p:nvPr/>
        </p:nvSpPr>
        <p:spPr>
          <a:xfrm>
            <a:off x="3583352" y="687769"/>
            <a:ext cx="6949970" cy="39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soporte simple y viga simple.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viga de mayor sección que el soporte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357DC8-F58C-F994-F7A4-61DEDCC08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78" y="715063"/>
            <a:ext cx="2019475" cy="217188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B0AAFE4-21DF-CF5F-FC7E-68F902F6C0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10"/>
          <a:stretch>
            <a:fillRect/>
          </a:stretch>
        </p:blipFill>
        <p:spPr>
          <a:xfrm>
            <a:off x="10007038" y="3050340"/>
            <a:ext cx="2194560" cy="146316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1B2E266-49C3-A1AA-DC6D-561281561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834" y="1210776"/>
            <a:ext cx="7456651" cy="55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74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0829D-5EC2-A031-4BCF-B487D9C3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53D9DF-4B04-EB98-71CC-700799260719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7CB6122-5560-17D6-B198-0607499E7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</a:t>
            </a:r>
            <a:r>
              <a:rPr lang="es-ES" altLang="es-ES" sz="1600" b="1" dirty="0"/>
              <a:t>HIPERESTÁTICAS (nudos RÍGIDOS)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7AC43F-AD8B-B537-7315-7D91724ACD97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463299-B148-2A37-5507-E85277AB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7" y="1"/>
            <a:ext cx="2014778" cy="225410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E8CC29B-B359-A767-1D4F-14A1358595C4}"/>
              </a:ext>
            </a:extLst>
          </p:cNvPr>
          <p:cNvSpPr txBox="1"/>
          <p:nvPr/>
        </p:nvSpPr>
        <p:spPr>
          <a:xfrm>
            <a:off x="9672320" y="594360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Caso que la viga sea de mayor sección que el soporte, rigidizadores trapezoidales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9A01E59-A053-37D1-6B57-1405E221C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48" y="1605518"/>
            <a:ext cx="8746281" cy="478368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17A12EF-0C27-4231-E835-D0B59B660A57}"/>
              </a:ext>
            </a:extLst>
          </p:cNvPr>
          <p:cNvSpPr txBox="1"/>
          <p:nvPr/>
        </p:nvSpPr>
        <p:spPr>
          <a:xfrm>
            <a:off x="3583352" y="687769"/>
            <a:ext cx="6949970" cy="39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soporte simple y viga simple.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viga de mayor sección que el soporte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C72995F-F49C-DEB9-3356-724741623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78" y="715063"/>
            <a:ext cx="2019475" cy="217188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689FE2E-AFA0-3D21-D3B4-EA110C6166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010"/>
          <a:stretch>
            <a:fillRect/>
          </a:stretch>
        </p:blipFill>
        <p:spPr>
          <a:xfrm>
            <a:off x="10007038" y="3050340"/>
            <a:ext cx="2194560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03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AA5E-DBD4-4DDF-A6F2-B41D9AEA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0D2078-2CAC-CD3B-FA83-928B89B2DFD4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FD5C0EC-2A84-A1B7-9532-F6C1063E8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HIPERESTÁTICAS (nudos RÍGIDOS)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0C8A995-E053-1CFC-B651-9E6FAD4D29E5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199E34-C250-5E24-21AC-552BB4987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7" y="1"/>
            <a:ext cx="2014778" cy="225410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0A85B1C-4711-4749-D16D-B206D7987123}"/>
              </a:ext>
            </a:extLst>
          </p:cNvPr>
          <p:cNvSpPr txBox="1"/>
          <p:nvPr/>
        </p:nvSpPr>
        <p:spPr>
          <a:xfrm>
            <a:off x="3583352" y="687769"/>
            <a:ext cx="6949970" cy="39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soporte simple y viga simple.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viga de mayor sección que el soporte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6EC2FB2-9BB6-3E72-5FB2-400CD1EBF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78" y="715063"/>
            <a:ext cx="2019475" cy="217188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60BECC1-98A3-F3D7-3CDA-C5CD31BDCF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10"/>
          <a:stretch>
            <a:fillRect/>
          </a:stretch>
        </p:blipFill>
        <p:spPr>
          <a:xfrm>
            <a:off x="10007038" y="3050340"/>
            <a:ext cx="2194560" cy="14631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3117E64-FB09-7E35-D1CB-18FBA61143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317" y="1232833"/>
            <a:ext cx="8436071" cy="47857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6964F8-D22D-9F0B-C2C6-4BDBA4A2BD10}"/>
              </a:ext>
            </a:extLst>
          </p:cNvPr>
          <p:cNvSpPr txBox="1"/>
          <p:nvPr/>
        </p:nvSpPr>
        <p:spPr>
          <a:xfrm>
            <a:off x="1597638" y="5985286"/>
            <a:ext cx="3367768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ES" altLang="es-ES" sz="1800" dirty="0"/>
              <a:t>Nudo rígido </a:t>
            </a:r>
            <a:r>
              <a:rPr lang="es-ES" altLang="es-ES" sz="1800" b="1" dirty="0"/>
              <a:t>extremo/medianero</a:t>
            </a:r>
            <a:r>
              <a:rPr lang="es-ES" altLang="es-ES" sz="1800" dirty="0"/>
              <a:t>, </a:t>
            </a:r>
            <a:r>
              <a:rPr lang="es-ES" altLang="es-ES" sz="1200" dirty="0"/>
              <a:t>con reducciones fuertes de pilar</a:t>
            </a:r>
            <a:endParaRPr lang="es-ES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8CF11B5-F03A-7462-C0CB-A7265BF5B414}"/>
              </a:ext>
            </a:extLst>
          </p:cNvPr>
          <p:cNvSpPr txBox="1"/>
          <p:nvPr/>
        </p:nvSpPr>
        <p:spPr>
          <a:xfrm>
            <a:off x="5946866" y="6123786"/>
            <a:ext cx="4060171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ES" altLang="es-ES" sz="1800" dirty="0"/>
              <a:t>Nudo </a:t>
            </a:r>
            <a:r>
              <a:rPr lang="es-ES" altLang="es-ES" dirty="0"/>
              <a:t>rígido </a:t>
            </a:r>
            <a:r>
              <a:rPr lang="es-ES" altLang="es-ES" b="1" dirty="0"/>
              <a:t>intermedio</a:t>
            </a:r>
            <a:r>
              <a:rPr lang="es-ES" altLang="es-ES" dirty="0"/>
              <a:t>, </a:t>
            </a:r>
            <a:r>
              <a:rPr lang="es-ES" altLang="es-ES" sz="1200" dirty="0"/>
              <a:t>con reducciones fuertes de pilar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394410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A8B7-5EDC-D7B3-7BA9-53E52220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C4E93B1-2B29-833D-0D84-51C29AA871F2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2C169BB-E965-7427-9C5A-7AF4E609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HIPERESTÁTICAS (nudos RÍGIDOS)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CDBFEC-923A-2BC8-61EC-3EA9E42026C8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2B676C-20C0-299D-8EA5-C0156128C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7" y="1"/>
            <a:ext cx="2014778" cy="22541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E993417-49AC-9C4D-E243-28671BC04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543" y="1528788"/>
            <a:ext cx="2042337" cy="37493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A0F8FF1-9AFE-C7DA-978B-904B9516A958}"/>
              </a:ext>
            </a:extLst>
          </p:cNvPr>
          <p:cNvSpPr txBox="1"/>
          <p:nvPr/>
        </p:nvSpPr>
        <p:spPr>
          <a:xfrm>
            <a:off x="9672320" y="5943600"/>
            <a:ext cx="219456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Caso que la viga sea de mayor sección que el soporte, rigidizadores trapezoidales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E72566-7C28-3130-949D-2FD2105E9AC0}"/>
              </a:ext>
            </a:extLst>
          </p:cNvPr>
          <p:cNvSpPr txBox="1"/>
          <p:nvPr/>
        </p:nvSpPr>
        <p:spPr>
          <a:xfrm>
            <a:off x="3583352" y="687769"/>
            <a:ext cx="6949970" cy="39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simple y viga simple.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viga de mayor sección que el soporte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C2DEE6-226B-6D57-BC88-774258F94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332" y="1016639"/>
            <a:ext cx="8626588" cy="499153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E5C4F17-A327-0C2F-811E-B1A7C426130B}"/>
              </a:ext>
            </a:extLst>
          </p:cNvPr>
          <p:cNvSpPr txBox="1"/>
          <p:nvPr/>
        </p:nvSpPr>
        <p:spPr>
          <a:xfrm>
            <a:off x="2147778" y="6266765"/>
            <a:ext cx="571148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ES" altLang="es-ES" sz="1800" dirty="0"/>
              <a:t>Nudo </a:t>
            </a:r>
            <a:r>
              <a:rPr lang="es-ES" altLang="es-ES" dirty="0"/>
              <a:t>rígido </a:t>
            </a:r>
            <a:r>
              <a:rPr lang="es-ES" altLang="es-ES" b="1" dirty="0"/>
              <a:t>extremo/medianero</a:t>
            </a:r>
            <a:r>
              <a:rPr lang="es-ES" altLang="es-ES" dirty="0"/>
              <a:t>, </a:t>
            </a:r>
            <a:r>
              <a:rPr lang="es-ES" altLang="es-ES" sz="1200" dirty="0"/>
              <a:t>con reducciones pilar - viga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472529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3675-6912-01EA-0E01-A5DBBD49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8F313E-C0FF-2B6E-D2A5-563527BB51EB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4C2B50D-F22D-88C7-2DA7-7A9D713A2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HIPERESTÁTICAS (nudos RÍGIDOS)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07FB47-544A-45FC-CAFA-75CBEFB59947}"/>
              </a:ext>
            </a:extLst>
          </p:cNvPr>
          <p:cNvSpPr txBox="1"/>
          <p:nvPr/>
        </p:nvSpPr>
        <p:spPr>
          <a:xfrm>
            <a:off x="12192000" y="152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dirty="0"/>
              <a:t>≥ ≤ </a:t>
            </a:r>
            <a:r>
              <a:rPr lang="es-ES" altLang="es-E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&lt; 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5F275A-B36B-4CAB-2BDA-4660FADB6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7" y="1"/>
            <a:ext cx="2014778" cy="225410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CA69382-73C9-874D-A368-CC7C513E4D83}"/>
              </a:ext>
            </a:extLst>
          </p:cNvPr>
          <p:cNvSpPr txBox="1"/>
          <p:nvPr/>
        </p:nvSpPr>
        <p:spPr>
          <a:xfrm>
            <a:off x="9672320" y="5943600"/>
            <a:ext cx="219456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/>
              <a:t>Caso que la viga sea de mayor sección que el soporte, rigidizadores trapezoidales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B2714B-425C-416D-1E4A-E71E0C882121}"/>
              </a:ext>
            </a:extLst>
          </p:cNvPr>
          <p:cNvSpPr txBox="1"/>
          <p:nvPr/>
        </p:nvSpPr>
        <p:spPr>
          <a:xfrm>
            <a:off x="3583352" y="687769"/>
            <a:ext cx="694997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soporte simple y viga simple.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viga de mayor sección que el soporte</a:t>
            </a:r>
          </a:p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Caso de viga continua de distinto canto </a:t>
            </a:r>
            <a:r>
              <a:rPr lang="es-ES" altLang="es-ES" sz="1200" b="1" dirty="0" err="1">
                <a:solidFill>
                  <a:srgbClr val="C00000"/>
                </a:solidFill>
              </a:rPr>
              <a:t>rigidización</a:t>
            </a:r>
            <a:r>
              <a:rPr lang="es-ES" altLang="es-ES" sz="1200" b="1" dirty="0">
                <a:solidFill>
                  <a:srgbClr val="C00000"/>
                </a:solidFill>
              </a:rPr>
              <a:t> de nudos mediante cartelas/refuerzos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6F2310-499B-5051-92C7-184E1A89DC8D}"/>
              </a:ext>
            </a:extLst>
          </p:cNvPr>
          <p:cNvSpPr txBox="1"/>
          <p:nvPr/>
        </p:nvSpPr>
        <p:spPr>
          <a:xfrm>
            <a:off x="2147778" y="6266765"/>
            <a:ext cx="571148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ES" altLang="es-ES" sz="1800" dirty="0"/>
              <a:t>Nudo </a:t>
            </a:r>
            <a:r>
              <a:rPr lang="es-ES" altLang="es-ES" dirty="0"/>
              <a:t>rígido </a:t>
            </a:r>
            <a:r>
              <a:rPr lang="es-ES" altLang="es-ES" b="1" dirty="0"/>
              <a:t>extremo/medianero</a:t>
            </a:r>
            <a:r>
              <a:rPr lang="es-ES" altLang="es-ES" dirty="0"/>
              <a:t>, </a:t>
            </a:r>
            <a:r>
              <a:rPr lang="es-ES" altLang="es-ES" sz="1200" dirty="0"/>
              <a:t>con reducciones pilar - viga</a:t>
            </a:r>
            <a:endParaRPr lang="es-ES" sz="1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C87A79-7A75-BFEE-DFC8-CD8EF1FD4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194" y="1630524"/>
            <a:ext cx="6111770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46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BA01-2B71-A2B8-C8ED-6603653A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0D71782-9F90-D026-80B5-9304AFC1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>
                <a:solidFill>
                  <a:srgbClr val="C00000"/>
                </a:solidFill>
              </a:rPr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ESTRUCTURAS </a:t>
            </a:r>
            <a:r>
              <a:rPr lang="es-ES" altLang="es-ES" sz="1600" b="1" dirty="0">
                <a:solidFill>
                  <a:schemeClr val="bg1">
                    <a:lumMod val="85000"/>
                  </a:schemeClr>
                </a:solidFill>
              </a:rPr>
              <a:t>ESPACIALES</a:t>
            </a:r>
            <a:r>
              <a:rPr lang="es-ES" altLang="es-ES" sz="1600" b="1" dirty="0">
                <a:solidFill>
                  <a:srgbClr val="C0000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F3C13C-242B-8A00-057A-68E8A0BEE1BD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302BE39-E313-BB09-B1B1-4C82F8F1A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 TOTALMENTE ISOSTATICOS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917157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5B7E-E375-9F63-8286-7D537969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CA7B48-F945-C6EF-D866-361597AFCB64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230C0F6-CDF7-9AD1-7836-D5B16BBC3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</a:t>
            </a:r>
            <a:r>
              <a:rPr lang="es-ES" altLang="es-ES" sz="1600" b="1" dirty="0"/>
              <a:t>ESPECIALES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5ACBFB-FF76-AA03-9FE3-95A9030792B3}"/>
              </a:ext>
            </a:extLst>
          </p:cNvPr>
          <p:cNvSpPr txBox="1"/>
          <p:nvPr/>
        </p:nvSpPr>
        <p:spPr>
          <a:xfrm>
            <a:off x="1244190" y="710545"/>
            <a:ext cx="6949970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jácenas o vigas trianguladas entre plantas</a:t>
            </a:r>
            <a:endParaRPr lang="es-ES" altLang="es-ES" sz="1200" b="1" dirty="0">
              <a:solidFill>
                <a:srgbClr val="C0000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EA621F-51B4-6EE0-16FB-3596773E0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7" y="1079877"/>
            <a:ext cx="2957761" cy="35866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C9472E6-3346-3BE4-C8B9-592072410A9A}"/>
              </a:ext>
            </a:extLst>
          </p:cNvPr>
          <p:cNvSpPr txBox="1"/>
          <p:nvPr/>
        </p:nvSpPr>
        <p:spPr>
          <a:xfrm>
            <a:off x="99417" y="4921712"/>
            <a:ext cx="3005289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Sección de edificio con planta baja e intermedias exentas o espacios diáfanos por la inclusión de vigas de celosía</a:t>
            </a:r>
            <a:endParaRPr lang="es-ES" altLang="es-ES" sz="1200" b="1" dirty="0">
              <a:solidFill>
                <a:srgbClr val="C00000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ED82CE2-1FE2-CD39-DFBC-C7DA6D443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097" y="1222745"/>
            <a:ext cx="8110406" cy="41402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4CC18C0-0065-29F2-BB46-5EC6CDB9AD07}"/>
              </a:ext>
            </a:extLst>
          </p:cNvPr>
          <p:cNvSpPr txBox="1"/>
          <p:nvPr/>
        </p:nvSpPr>
        <p:spPr>
          <a:xfrm>
            <a:off x="6500217" y="5396224"/>
            <a:ext cx="3005289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ARCO POLIGONAL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25428E-424E-769B-349A-36BB85123EBC}"/>
              </a:ext>
            </a:extLst>
          </p:cNvPr>
          <p:cNvSpPr txBox="1"/>
          <p:nvPr/>
        </p:nvSpPr>
        <p:spPr>
          <a:xfrm>
            <a:off x="3588097" y="5396224"/>
            <a:ext cx="3005289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VIGA PRATT</a:t>
            </a:r>
          </a:p>
        </p:txBody>
      </p:sp>
    </p:spTree>
    <p:extLst>
      <p:ext uri="{BB962C8B-B14F-4D97-AF65-F5344CB8AC3E}">
        <p14:creationId xmlns:p14="http://schemas.microsoft.com/office/powerpoint/2010/main" val="3068981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3825-6231-506A-8771-47511365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F402ED-C899-3878-6A85-E45A51F8ADDF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8B356D7-2B5B-7954-C920-28D8A3AF6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</a:t>
            </a:r>
            <a:r>
              <a:rPr lang="es-ES" altLang="es-ES" sz="1600" b="1" dirty="0"/>
              <a:t>ESPECIALES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FBCF7EB-16BC-D02E-32C8-911BCB7010DF}"/>
              </a:ext>
            </a:extLst>
          </p:cNvPr>
          <p:cNvSpPr txBox="1"/>
          <p:nvPr/>
        </p:nvSpPr>
        <p:spPr>
          <a:xfrm>
            <a:off x="1244190" y="710545"/>
            <a:ext cx="6949970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jácenas o vigas trianguladas entre plantas</a:t>
            </a:r>
            <a:endParaRPr lang="es-ES" altLang="es-ES" sz="1200" b="1" dirty="0">
              <a:solidFill>
                <a:srgbClr val="C0000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6E3C7E-63A9-BF9A-1E9D-577A08CA5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7" y="1079877"/>
            <a:ext cx="2957761" cy="35866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E4E8C49-F891-DE3B-CF5C-0BC342DB6C2E}"/>
              </a:ext>
            </a:extLst>
          </p:cNvPr>
          <p:cNvSpPr txBox="1"/>
          <p:nvPr/>
        </p:nvSpPr>
        <p:spPr>
          <a:xfrm>
            <a:off x="4448134" y="5240653"/>
            <a:ext cx="5737857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Ejemplo de una viga VIERENDEEL SIN y CON refuerzo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B3334D1-D99C-BF51-D8BB-91277702F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591" y="1079877"/>
            <a:ext cx="6237200" cy="413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0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4259-1544-29AA-0537-B9913670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3BB2DB-F770-E8CE-4F41-53575DA8B5C4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D3B7F92-9D94-949A-4D63-274F22C52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</a:t>
            </a:r>
            <a:r>
              <a:rPr lang="es-ES" altLang="es-ES" sz="1600" b="1" dirty="0"/>
              <a:t>ESPECIALES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4CF3C4-C867-7538-AD7E-43B2F068C5BC}"/>
              </a:ext>
            </a:extLst>
          </p:cNvPr>
          <p:cNvSpPr txBox="1"/>
          <p:nvPr/>
        </p:nvSpPr>
        <p:spPr>
          <a:xfrm>
            <a:off x="1244190" y="710545"/>
            <a:ext cx="6949970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Caso de jácenas o vigas trianguladas entre plantas</a:t>
            </a:r>
            <a:endParaRPr lang="es-ES" altLang="es-ES" sz="1200" b="1" dirty="0">
              <a:solidFill>
                <a:srgbClr val="C0000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1CAB4C-E903-83C0-EF83-097872F3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7" y="1079877"/>
            <a:ext cx="2957761" cy="35866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29C47EB-7049-D2CF-5631-490905657C11}"/>
              </a:ext>
            </a:extLst>
          </p:cNvPr>
          <p:cNvSpPr txBox="1"/>
          <p:nvPr/>
        </p:nvSpPr>
        <p:spPr>
          <a:xfrm>
            <a:off x="4448134" y="5240653"/>
            <a:ext cx="5737857" cy="2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b="1" dirty="0">
                <a:solidFill>
                  <a:srgbClr val="C00000"/>
                </a:solidFill>
              </a:rPr>
              <a:t>Ejemplo ARCO POLIGONAL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620C27-B881-B633-FD36-7479A93CA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57" y="1079877"/>
            <a:ext cx="7674005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62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AE0A-C085-7289-93F5-235AC06C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A22B5FE-5465-6545-2818-EE1C3FAD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</a:t>
            </a:r>
            <a:r>
              <a:rPr lang="es-ES" altLang="es-ES" sz="1600" b="1" dirty="0">
                <a:solidFill>
                  <a:srgbClr val="C00000"/>
                </a:solidFill>
              </a:rPr>
              <a:t>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4B42A11-0E90-5D3C-1A68-61627FCF2F27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7046B50-1862-FF59-F905-46E79A03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3595764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BEFA-4512-9F1D-06E2-5150D83F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B1796D-E9F9-4EFB-9D13-C8582054501F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01641A9-199A-2F9D-8901-6FC4F8F01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ENTRAMADOS. </a:t>
            </a:r>
            <a:r>
              <a:rPr lang="es-ES" altLang="es-ES" sz="1600" b="1" dirty="0"/>
              <a:t>ESTABILIDAD HORIZONTAL. ARRIOSTRADOS.</a:t>
            </a:r>
            <a:r>
              <a:rPr lang="es-ES" altLang="es-ES" sz="1600" dirty="0"/>
              <a:t> 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5DA4BB-05B0-FA2A-7190-0AA33C364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811" y="821601"/>
            <a:ext cx="2879188" cy="360625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1C0728-4491-7BD5-A900-49A55374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79601"/>
            <a:ext cx="7040880" cy="39283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B7CE44-10CF-F942-22CD-EF629A9EE74F}"/>
              </a:ext>
            </a:extLst>
          </p:cNvPr>
          <p:cNvSpPr txBox="1"/>
          <p:nvPr/>
        </p:nvSpPr>
        <p:spPr>
          <a:xfrm>
            <a:off x="543252" y="5975613"/>
            <a:ext cx="5737857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DB SE AE. Art 5,3. los sistemas de </a:t>
            </a:r>
            <a:r>
              <a:rPr lang="es-ES" altLang="es-ES" sz="1200" dirty="0" err="1"/>
              <a:t>arriestromiento</a:t>
            </a:r>
            <a:r>
              <a:rPr lang="es-ES" altLang="es-ES" sz="1200" dirty="0"/>
              <a:t> al menos en dos direcciones, no paralelas entre si y en por lo menos tres planos TRIANGULADOS no concurrentes en el mismo pilar.</a:t>
            </a:r>
          </a:p>
        </p:txBody>
      </p:sp>
    </p:spTree>
    <p:extLst>
      <p:ext uri="{BB962C8B-B14F-4D97-AF65-F5344CB8AC3E}">
        <p14:creationId xmlns:p14="http://schemas.microsoft.com/office/powerpoint/2010/main" val="187738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B282-C1AA-BF47-63B4-D6A1C409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D7C1204-E53C-29CA-0EBB-C85636ACBC51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E7E0C83-7D7F-140F-D7E5-E73818F6F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ENTRAMADOS. </a:t>
            </a:r>
            <a:r>
              <a:rPr lang="es-ES" altLang="es-ES" sz="1600" b="1" dirty="0"/>
              <a:t>ESTABILIDAD HORIZONTAL. ARRIOSTRADOS.</a:t>
            </a: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036BA0-60AD-8C5A-D811-FAB8730AC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811" y="821601"/>
            <a:ext cx="2879188" cy="360625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C16B26C-6366-234B-D4A2-EC418C16ABF7}"/>
              </a:ext>
            </a:extLst>
          </p:cNvPr>
          <p:cNvSpPr txBox="1"/>
          <p:nvPr/>
        </p:nvSpPr>
        <p:spPr>
          <a:xfrm>
            <a:off x="543252" y="5975613"/>
            <a:ext cx="5737857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 eaLnBrk="1" hangingPunct="1">
              <a:lnSpc>
                <a:spcPct val="80000"/>
              </a:lnSpc>
              <a:buFontTx/>
              <a:buAutoNum type="alphaLcParenR"/>
            </a:pPr>
            <a:r>
              <a:rPr lang="es-ES" altLang="es-ES" sz="1200" dirty="0"/>
              <a:t>DB SE AE. Art 5,3. los sistemas de </a:t>
            </a:r>
            <a:r>
              <a:rPr lang="es-ES" altLang="es-ES" sz="1200" dirty="0" err="1"/>
              <a:t>arriestromiento</a:t>
            </a:r>
            <a:r>
              <a:rPr lang="es-ES" altLang="es-ES" sz="1200" dirty="0"/>
              <a:t> al menos en dos direcciones, no paralelas entre si y en por lo menos tres planos TRIANGULADOS no concurrentes en el mismo pilar.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F6B305-F2AA-8D7D-0DFC-965C41763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4" y="1147891"/>
            <a:ext cx="6835732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62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E103-208C-ACD5-F5FB-80C91D63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C92FA60-7126-2D5C-8DD0-4375CB6CD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085785"/>
            <a:ext cx="61722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INTRODUCCION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Esquemas Estructurales.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TOTALMENTE ISOSTATICAS.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articulados.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DE VIGAS CONTINUAS.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de viga continua (articulados).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HIPERESTATICAS.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Nudos rígidos.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ESPECIALES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ESTRUCTURAS ESPACIALES.</a:t>
            </a:r>
          </a:p>
          <a:p>
            <a:pPr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6.	ESTABILIDAD HORIZONTAL. ARRIOSTRADOS.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	Aplicación en edificios.</a:t>
            </a:r>
          </a:p>
          <a:p>
            <a:pPr lvl="1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600" dirty="0"/>
              <a:t>7.	</a:t>
            </a:r>
            <a:r>
              <a:rPr lang="es-ES" altLang="es-ES" sz="1600" b="1" dirty="0">
                <a:solidFill>
                  <a:srgbClr val="C00000"/>
                </a:solidFill>
              </a:rPr>
              <a:t>JUNTAS EN EDIFICIOS DE ESTRUCTURA METALICA.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Juntas paralelas a la dirección de forjado.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s-ES" altLang="es-ES" sz="1600" b="1" dirty="0">
                <a:solidFill>
                  <a:srgbClr val="C00000"/>
                </a:solidFill>
              </a:rPr>
              <a:t>	Juntas perpendiculares a la dirección de forjado.</a:t>
            </a:r>
          </a:p>
          <a:p>
            <a:pPr lvl="1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82DA37-8EA2-3DF7-7EFD-7210D7CE9E10}"/>
              </a:ext>
            </a:extLst>
          </p:cNvPr>
          <p:cNvSpPr txBox="1"/>
          <p:nvPr/>
        </p:nvSpPr>
        <p:spPr>
          <a:xfrm>
            <a:off x="0" y="-32637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64C4A95-8DCB-26C2-81B0-3DE6A8CF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213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dirty="0"/>
              <a:t>ESTRUCTURAS o ENTRAMADOS DE PORTICOS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  <p:extLst>
      <p:ext uri="{BB962C8B-B14F-4D97-AF65-F5344CB8AC3E}">
        <p14:creationId xmlns:p14="http://schemas.microsoft.com/office/powerpoint/2010/main" val="2634029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>
            <a:extLst>
              <a:ext uri="{FF2B5EF4-FFF2-40B4-BE49-F238E27FC236}">
                <a16:creationId xmlns:a16="http://schemas.microsoft.com/office/drawing/2014/main" id="{F37A683E-E44B-91BB-AE29-6D40F7B11C1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47109" name="Rectangle 6">
            <a:extLst>
              <a:ext uri="{FF2B5EF4-FFF2-40B4-BE49-F238E27FC236}">
                <a16:creationId xmlns:a16="http://schemas.microsoft.com/office/drawing/2014/main" id="{8C978CB8-ACFD-14A3-BAD2-0B604048A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0"/>
            <a:ext cx="8675687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grpSp>
        <p:nvGrpSpPr>
          <p:cNvPr id="47116" name="Group 12">
            <a:extLst>
              <a:ext uri="{FF2B5EF4-FFF2-40B4-BE49-F238E27FC236}">
                <a16:creationId xmlns:a16="http://schemas.microsoft.com/office/drawing/2014/main" id="{51A12597-DAB6-77B9-E783-0E39C4DFCD94}"/>
              </a:ext>
            </a:extLst>
          </p:cNvPr>
          <p:cNvGrpSpPr>
            <a:grpSpLocks/>
          </p:cNvGrpSpPr>
          <p:nvPr/>
        </p:nvGrpSpPr>
        <p:grpSpPr bwMode="auto">
          <a:xfrm>
            <a:off x="12192000" y="1014732"/>
            <a:ext cx="3475038" cy="523875"/>
            <a:chOff x="2336" y="0"/>
            <a:chExt cx="3323" cy="502"/>
          </a:xfrm>
        </p:grpSpPr>
        <p:pic>
          <p:nvPicPr>
            <p:cNvPr id="47127" name="Picture 13" descr="logo_HORIZONTAL_VAL">
              <a:extLst>
                <a:ext uri="{FF2B5EF4-FFF2-40B4-BE49-F238E27FC236}">
                  <a16:creationId xmlns:a16="http://schemas.microsoft.com/office/drawing/2014/main" id="{DD1D1785-3F4A-9123-6556-0E6184738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657"/>
            <a:stretch>
              <a:fillRect/>
            </a:stretch>
          </p:blipFill>
          <p:spPr bwMode="auto">
            <a:xfrm>
              <a:off x="2336" y="0"/>
              <a:ext cx="1788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8" name="Picture 14" descr="logo_upv_color300">
              <a:extLst>
                <a:ext uri="{FF2B5EF4-FFF2-40B4-BE49-F238E27FC236}">
                  <a16:creationId xmlns:a16="http://schemas.microsoft.com/office/drawing/2014/main" id="{9AE48BA6-2477-084D-D193-BCFA0A4D2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01" b="8501"/>
            <a:stretch>
              <a:fillRect/>
            </a:stretch>
          </p:blipFill>
          <p:spPr bwMode="auto">
            <a:xfrm>
              <a:off x="4105" y="47"/>
              <a:ext cx="1554" cy="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7118" name="Rectangle 2">
            <a:extLst>
              <a:ext uri="{FF2B5EF4-FFF2-40B4-BE49-F238E27FC236}">
                <a16:creationId xmlns:a16="http://schemas.microsoft.com/office/drawing/2014/main" id="{49EB7E03-D315-1B2F-402A-561EFF20C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 dirty="0"/>
          </a:p>
          <a:p>
            <a:pPr eaLnBrk="1" hangingPunct="1">
              <a:buFontTx/>
              <a:buNone/>
            </a:pPr>
            <a:endParaRPr lang="es-ES" altLang="es-ES" sz="1400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 dirty="0"/>
          </a:p>
        </p:txBody>
      </p:sp>
      <p:sp>
        <p:nvSpPr>
          <p:cNvPr id="47119" name="Rectangle 17">
            <a:extLst>
              <a:ext uri="{FF2B5EF4-FFF2-40B4-BE49-F238E27FC236}">
                <a16:creationId xmlns:a16="http://schemas.microsoft.com/office/drawing/2014/main" id="{97AF6B88-2DED-5F26-32D9-D1CFDFAE4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7120" name="Rectangle 18">
            <a:extLst>
              <a:ext uri="{FF2B5EF4-FFF2-40B4-BE49-F238E27FC236}">
                <a16:creationId xmlns:a16="http://schemas.microsoft.com/office/drawing/2014/main" id="{86935E9E-013B-0698-C351-560CDE19E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4149726"/>
            <a:ext cx="5472113" cy="320675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PARALELAS a la dirección de forjado.</a:t>
            </a:r>
          </a:p>
        </p:txBody>
      </p:sp>
      <p:sp>
        <p:nvSpPr>
          <p:cNvPr id="47121" name="Rectangle 18">
            <a:extLst>
              <a:ext uri="{FF2B5EF4-FFF2-40B4-BE49-F238E27FC236}">
                <a16:creationId xmlns:a16="http://schemas.microsoft.com/office/drawing/2014/main" id="{EC0A64D1-900F-2A9F-41C1-9D751548D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5661026"/>
            <a:ext cx="6070893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47122" name="Rectangle 21">
            <a:extLst>
              <a:ext uri="{FF2B5EF4-FFF2-40B4-BE49-F238E27FC236}">
                <a16:creationId xmlns:a16="http://schemas.microsoft.com/office/drawing/2014/main" id="{0E1E62D7-B2B1-71BD-9921-FAAD0ED8A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3933825"/>
            <a:ext cx="29803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s-ES" altLang="es-ES" sz="1800" b="1" dirty="0"/>
              <a:t>- 1 Doble pilar/doble viga</a:t>
            </a: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endParaRPr lang="es-ES" altLang="es-ES" sz="1800" b="1" dirty="0"/>
          </a:p>
          <a:p>
            <a:pPr>
              <a:spcBef>
                <a:spcPct val="0"/>
              </a:spcBef>
              <a:buNone/>
            </a:pPr>
            <a:r>
              <a:rPr lang="es-ES" altLang="es-ES" sz="1800" b="1" dirty="0"/>
              <a:t>- 2 Único pilar /doble viga</a:t>
            </a:r>
          </a:p>
        </p:txBody>
      </p:sp>
      <p:sp>
        <p:nvSpPr>
          <p:cNvPr id="47123" name="Rectangle 22">
            <a:extLst>
              <a:ext uri="{FF2B5EF4-FFF2-40B4-BE49-F238E27FC236}">
                <a16:creationId xmlns:a16="http://schemas.microsoft.com/office/drawing/2014/main" id="{37202675-F94C-2721-A7BB-EE725F2E6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5373689"/>
            <a:ext cx="298030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-"/>
            </a:pPr>
            <a:r>
              <a:rPr lang="es-ES" altLang="es-ES" sz="1800" b="1" dirty="0"/>
              <a:t> 3 Doble pilar /doble viga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s-ES" altLang="es-ES" sz="1800" b="1" dirty="0"/>
          </a:p>
          <a:p>
            <a:pPr>
              <a:spcBef>
                <a:spcPct val="0"/>
              </a:spcBef>
              <a:buFontTx/>
              <a:buChar char="-"/>
            </a:pPr>
            <a:r>
              <a:rPr lang="es-ES" altLang="es-ES" sz="1800" b="1" dirty="0"/>
              <a:t> 4 Único pilar /doble viga</a:t>
            </a:r>
          </a:p>
          <a:p>
            <a:pPr>
              <a:spcBef>
                <a:spcPct val="0"/>
              </a:spcBef>
              <a:buFontTx/>
              <a:buChar char="-"/>
            </a:pPr>
            <a:endParaRPr lang="es-ES" altLang="es-ES" sz="1800" b="1" dirty="0"/>
          </a:p>
          <a:p>
            <a:pPr>
              <a:spcBef>
                <a:spcPct val="0"/>
              </a:spcBef>
              <a:buFontTx/>
              <a:buChar char="-"/>
            </a:pPr>
            <a:r>
              <a:rPr lang="es-ES" altLang="es-ES" sz="1800" b="1" dirty="0"/>
              <a:t> 5 Único pilar /única viga</a:t>
            </a:r>
          </a:p>
        </p:txBody>
      </p:sp>
      <p:sp>
        <p:nvSpPr>
          <p:cNvPr id="47124" name="AutoShape 24">
            <a:extLst>
              <a:ext uri="{FF2B5EF4-FFF2-40B4-BE49-F238E27FC236}">
                <a16:creationId xmlns:a16="http://schemas.microsoft.com/office/drawing/2014/main" id="{84B9B98B-F991-1A64-3B71-58E239046F80}"/>
              </a:ext>
            </a:extLst>
          </p:cNvPr>
          <p:cNvSpPr>
            <a:spLocks/>
          </p:cNvSpPr>
          <p:nvPr/>
        </p:nvSpPr>
        <p:spPr bwMode="auto">
          <a:xfrm>
            <a:off x="8183564" y="3790950"/>
            <a:ext cx="288925" cy="1081088"/>
          </a:xfrm>
          <a:prstGeom prst="leftBrace">
            <a:avLst>
              <a:gd name="adj1" fmla="val 311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7125" name="AutoShape 25">
            <a:extLst>
              <a:ext uri="{FF2B5EF4-FFF2-40B4-BE49-F238E27FC236}">
                <a16:creationId xmlns:a16="http://schemas.microsoft.com/office/drawing/2014/main" id="{2C579E45-F8DB-653B-BB6E-624C65167A97}"/>
              </a:ext>
            </a:extLst>
          </p:cNvPr>
          <p:cNvSpPr>
            <a:spLocks/>
          </p:cNvSpPr>
          <p:nvPr/>
        </p:nvSpPr>
        <p:spPr bwMode="auto">
          <a:xfrm>
            <a:off x="8255002" y="5300664"/>
            <a:ext cx="288924" cy="1477328"/>
          </a:xfrm>
          <a:prstGeom prst="leftBrace">
            <a:avLst>
              <a:gd name="adj1" fmla="val 311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7126" name="Rectangle 26">
            <a:extLst>
              <a:ext uri="{FF2B5EF4-FFF2-40B4-BE49-F238E27FC236}">
                <a16:creationId xmlns:a16="http://schemas.microsoft.com/office/drawing/2014/main" id="{2B219C1F-BB59-2501-70FE-C5AC24E46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1721644"/>
            <a:ext cx="8208963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s-ES" altLang="es-ES" sz="1600" dirty="0"/>
              <a:t> </a:t>
            </a:r>
            <a:r>
              <a:rPr lang="es-ES" altLang="es-ES" sz="1600" b="1" dirty="0"/>
              <a:t>Función:</a:t>
            </a:r>
            <a:r>
              <a:rPr lang="es-ES" altLang="es-ES" sz="1600" dirty="0"/>
              <a:t> Evitan que aparezcan fisuras y grietas en edificios por causa de deformaciones de los elementos estructurales (dilatación principalmente)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s-ES" altLang="es-ES" sz="1600" dirty="0"/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s-ES" altLang="es-ES" sz="1600" dirty="0"/>
              <a:t> La </a:t>
            </a:r>
            <a:r>
              <a:rPr lang="es-ES" altLang="es-ES" sz="1600" b="1" dirty="0"/>
              <a:t>disposición</a:t>
            </a:r>
            <a:r>
              <a:rPr lang="es-ES" altLang="es-ES" sz="1600" dirty="0"/>
              <a:t> de la junta no debe sobrepasar nunca en longitud los </a:t>
            </a:r>
            <a:r>
              <a:rPr lang="es-ES" altLang="es-ES" sz="1600" b="1" dirty="0"/>
              <a:t>40 m</a:t>
            </a:r>
            <a:r>
              <a:rPr lang="es-ES" altLang="es-ES" sz="1800" dirty="0"/>
              <a:t> 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BEE2A53-9131-E1B6-47CD-C6AF9BFC869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6291205-D718-C154-9039-833C34FA0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8D9D-FA4C-8CCC-259C-C672F15F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3">
            <a:extLst>
              <a:ext uri="{FF2B5EF4-FFF2-40B4-BE49-F238E27FC236}">
                <a16:creationId xmlns:a16="http://schemas.microsoft.com/office/drawing/2014/main" id="{2E8C3FF1-DA12-3255-7382-99C6C513F44F}"/>
              </a:ext>
            </a:extLst>
          </p:cNvPr>
          <p:cNvGrpSpPr>
            <a:grpSpLocks/>
          </p:cNvGrpSpPr>
          <p:nvPr/>
        </p:nvGrpSpPr>
        <p:grpSpPr bwMode="auto">
          <a:xfrm>
            <a:off x="809786" y="2064033"/>
            <a:ext cx="3386138" cy="1944688"/>
            <a:chOff x="3243" y="2795"/>
            <a:chExt cx="2133" cy="1225"/>
          </a:xfrm>
        </p:grpSpPr>
        <p:sp>
          <p:nvSpPr>
            <p:cNvPr id="17" name="Line 37">
              <a:extLst>
                <a:ext uri="{FF2B5EF4-FFF2-40B4-BE49-F238E27FC236}">
                  <a16:creationId xmlns:a16="http://schemas.microsoft.com/office/drawing/2014/main" id="{A4F957F5-EF26-3CF5-CA62-7E8AE5C24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795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AB1BA619-42F6-C10D-D513-547F6ED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931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0" name="Rectangle 30">
              <a:extLst>
                <a:ext uri="{FF2B5EF4-FFF2-40B4-BE49-F238E27FC236}">
                  <a16:creationId xmlns:a16="http://schemas.microsoft.com/office/drawing/2014/main" id="{214F80A9-3CC1-B5B3-D6FF-71BE3EF4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1" name="Rectangle 31">
              <a:extLst>
                <a:ext uri="{FF2B5EF4-FFF2-40B4-BE49-F238E27FC236}">
                  <a16:creationId xmlns:a16="http://schemas.microsoft.com/office/drawing/2014/main" id="{17584594-7711-7810-2CEC-7C185766E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3793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2" name="Rectangle 32">
              <a:extLst>
                <a:ext uri="{FF2B5EF4-FFF2-40B4-BE49-F238E27FC236}">
                  <a16:creationId xmlns:a16="http://schemas.microsoft.com/office/drawing/2014/main" id="{78833BD9-D514-2327-A731-5E7D1AFFA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3" name="Rectangle 33">
              <a:extLst>
                <a:ext uri="{FF2B5EF4-FFF2-40B4-BE49-F238E27FC236}">
                  <a16:creationId xmlns:a16="http://schemas.microsoft.com/office/drawing/2014/main" id="{11F9BCB4-EF43-1B9C-86F6-ABDCE33AF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1E2CB29E-39E2-36C4-B246-6A1758508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F8711CDD-905A-C013-E650-12DD46A55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D2831BD8-18EC-9C4C-50CE-681C02D7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27" name="Group 41">
              <a:extLst>
                <a:ext uri="{FF2B5EF4-FFF2-40B4-BE49-F238E27FC236}">
                  <a16:creationId xmlns:a16="http://schemas.microsoft.com/office/drawing/2014/main" id="{3ACA3569-EC3A-26AA-268E-26297E642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" y="3113"/>
              <a:ext cx="97" cy="635"/>
              <a:chOff x="3651" y="3203"/>
              <a:chExt cx="97" cy="635"/>
            </a:xfrm>
          </p:grpSpPr>
          <p:sp>
            <p:nvSpPr>
              <p:cNvPr id="36" name="Line 38">
                <a:extLst>
                  <a:ext uri="{FF2B5EF4-FFF2-40B4-BE49-F238E27FC236}">
                    <a16:creationId xmlns:a16="http://schemas.microsoft.com/office/drawing/2014/main" id="{2F6495F3-A395-7503-F6DC-C56FDF224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" name="Line 39">
                <a:extLst>
                  <a:ext uri="{FF2B5EF4-FFF2-40B4-BE49-F238E27FC236}">
                    <a16:creationId xmlns:a16="http://schemas.microsoft.com/office/drawing/2014/main" id="{31D29ABD-29A1-8585-D9DA-86B5B5CED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" name="Line 40">
                <a:extLst>
                  <a:ext uri="{FF2B5EF4-FFF2-40B4-BE49-F238E27FC236}">
                    <a16:creationId xmlns:a16="http://schemas.microsoft.com/office/drawing/2014/main" id="{B1740692-6D0F-8349-C4D3-C34D6DAFB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C2C0AAA4-E955-57E1-908C-F6DD0CC39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3113"/>
              <a:ext cx="97" cy="635"/>
              <a:chOff x="3651" y="3203"/>
              <a:chExt cx="97" cy="635"/>
            </a:xfrm>
          </p:grpSpPr>
          <p:sp>
            <p:nvSpPr>
              <p:cNvPr id="33" name="Line 43">
                <a:extLst>
                  <a:ext uri="{FF2B5EF4-FFF2-40B4-BE49-F238E27FC236}">
                    <a16:creationId xmlns:a16="http://schemas.microsoft.com/office/drawing/2014/main" id="{F661BE64-A9F6-C139-3AA9-538E05CC3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" name="Line 44">
                <a:extLst>
                  <a:ext uri="{FF2B5EF4-FFF2-40B4-BE49-F238E27FC236}">
                    <a16:creationId xmlns:a16="http://schemas.microsoft.com/office/drawing/2014/main" id="{F09ABFA6-B5F0-C9C9-8DCC-0DBCB4A9F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5" name="Line 45">
                <a:extLst>
                  <a:ext uri="{FF2B5EF4-FFF2-40B4-BE49-F238E27FC236}">
                    <a16:creationId xmlns:a16="http://schemas.microsoft.com/office/drawing/2014/main" id="{83D7BB04-3534-525C-CB32-0054322EA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29" name="Rectangle 47">
              <a:extLst>
                <a:ext uri="{FF2B5EF4-FFF2-40B4-BE49-F238E27FC236}">
                  <a16:creationId xmlns:a16="http://schemas.microsoft.com/office/drawing/2014/main" id="{2F7F5B38-B9A2-41C6-B6F6-D4634158C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976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30" name="Rectangle 48">
              <a:extLst>
                <a:ext uri="{FF2B5EF4-FFF2-40B4-BE49-F238E27FC236}">
                  <a16:creationId xmlns:a16="http://schemas.microsoft.com/office/drawing/2014/main" id="{029224AA-99AB-D317-988D-0553CB338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976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31" name="Rectangle 49">
              <a:extLst>
                <a:ext uri="{FF2B5EF4-FFF2-40B4-BE49-F238E27FC236}">
                  <a16:creationId xmlns:a16="http://schemas.microsoft.com/office/drawing/2014/main" id="{D6466479-2AD4-4880-F7C5-690067644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838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32" name="Rectangle 50">
              <a:extLst>
                <a:ext uri="{FF2B5EF4-FFF2-40B4-BE49-F238E27FC236}">
                  <a16:creationId xmlns:a16="http://schemas.microsoft.com/office/drawing/2014/main" id="{25D40370-8975-2FB2-BC23-B9DF260C5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3838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grpSp>
        <p:nvGrpSpPr>
          <p:cNvPr id="39" name="Group 84">
            <a:extLst>
              <a:ext uri="{FF2B5EF4-FFF2-40B4-BE49-F238E27FC236}">
                <a16:creationId xmlns:a16="http://schemas.microsoft.com/office/drawing/2014/main" id="{5218A252-DF3B-EE9A-7B85-A54A81B94912}"/>
              </a:ext>
            </a:extLst>
          </p:cNvPr>
          <p:cNvGrpSpPr>
            <a:grpSpLocks/>
          </p:cNvGrpSpPr>
          <p:nvPr/>
        </p:nvGrpSpPr>
        <p:grpSpPr bwMode="auto">
          <a:xfrm>
            <a:off x="801266" y="4297647"/>
            <a:ext cx="3393072" cy="2183090"/>
            <a:chOff x="3470" y="3022"/>
            <a:chExt cx="1954" cy="1225"/>
          </a:xfrm>
        </p:grpSpPr>
        <p:sp>
          <p:nvSpPr>
            <p:cNvPr id="40" name="Line 58">
              <a:extLst>
                <a:ext uri="{FF2B5EF4-FFF2-40B4-BE49-F238E27FC236}">
                  <a16:creationId xmlns:a16="http://schemas.microsoft.com/office/drawing/2014/main" id="{0A1FA0F5-3E27-DA40-790A-113B920FE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3022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Rectangle 59">
              <a:extLst>
                <a:ext uri="{FF2B5EF4-FFF2-40B4-BE49-F238E27FC236}">
                  <a16:creationId xmlns:a16="http://schemas.microsoft.com/office/drawing/2014/main" id="{300F41D3-9594-D565-BED0-3E27128EC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158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2" name="Rectangle 61">
              <a:extLst>
                <a:ext uri="{FF2B5EF4-FFF2-40B4-BE49-F238E27FC236}">
                  <a16:creationId xmlns:a16="http://schemas.microsoft.com/office/drawing/2014/main" id="{F51BBC13-B2CB-27D3-9545-7A875B1AA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4020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3" name="Rectangle 63">
              <a:extLst>
                <a:ext uri="{FF2B5EF4-FFF2-40B4-BE49-F238E27FC236}">
                  <a16:creationId xmlns:a16="http://schemas.microsoft.com/office/drawing/2014/main" id="{6AE1CCFD-2251-7FCB-B03E-47CEB50AF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4" name="Rectangle 64">
              <a:extLst>
                <a:ext uri="{FF2B5EF4-FFF2-40B4-BE49-F238E27FC236}">
                  <a16:creationId xmlns:a16="http://schemas.microsoft.com/office/drawing/2014/main" id="{AE3DDAB0-9684-DC0A-18B1-CDF0E84D3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5" name="Rectangle 65">
              <a:extLst>
                <a:ext uri="{FF2B5EF4-FFF2-40B4-BE49-F238E27FC236}">
                  <a16:creationId xmlns:a16="http://schemas.microsoft.com/office/drawing/2014/main" id="{C62381FD-9B77-4BEA-0415-D4D304A22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6" name="Rectangle 66">
              <a:extLst>
                <a:ext uri="{FF2B5EF4-FFF2-40B4-BE49-F238E27FC236}">
                  <a16:creationId xmlns:a16="http://schemas.microsoft.com/office/drawing/2014/main" id="{B56DD461-A2D1-9C5D-A749-C6104636E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47" name="Group 67">
              <a:extLst>
                <a:ext uri="{FF2B5EF4-FFF2-40B4-BE49-F238E27FC236}">
                  <a16:creationId xmlns:a16="http://schemas.microsoft.com/office/drawing/2014/main" id="{4EEE73DA-057B-7FB1-87AD-AB2E066FB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" y="3340"/>
              <a:ext cx="97" cy="635"/>
              <a:chOff x="3651" y="3203"/>
              <a:chExt cx="97" cy="635"/>
            </a:xfrm>
          </p:grpSpPr>
          <p:sp>
            <p:nvSpPr>
              <p:cNvPr id="56" name="Line 68">
                <a:extLst>
                  <a:ext uri="{FF2B5EF4-FFF2-40B4-BE49-F238E27FC236}">
                    <a16:creationId xmlns:a16="http://schemas.microsoft.com/office/drawing/2014/main" id="{F91CDD2B-D2CF-6F73-000C-FAEA707BD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" name="Line 69">
                <a:extLst>
                  <a:ext uri="{FF2B5EF4-FFF2-40B4-BE49-F238E27FC236}">
                    <a16:creationId xmlns:a16="http://schemas.microsoft.com/office/drawing/2014/main" id="{19C07E71-D662-A621-10D9-B17D2C1F7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" name="Line 70">
                <a:extLst>
                  <a:ext uri="{FF2B5EF4-FFF2-40B4-BE49-F238E27FC236}">
                    <a16:creationId xmlns:a16="http://schemas.microsoft.com/office/drawing/2014/main" id="{4938ACA7-98AA-583F-F0E7-9EDE769FC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48" name="Group 71">
              <a:extLst>
                <a:ext uri="{FF2B5EF4-FFF2-40B4-BE49-F238E27FC236}">
                  <a16:creationId xmlns:a16="http://schemas.microsoft.com/office/drawing/2014/main" id="{C031841B-F185-F97C-F67D-1AADF0A54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1" y="3340"/>
              <a:ext cx="97" cy="635"/>
              <a:chOff x="3651" y="3203"/>
              <a:chExt cx="97" cy="635"/>
            </a:xfrm>
          </p:grpSpPr>
          <p:sp>
            <p:nvSpPr>
              <p:cNvPr id="53" name="Line 72">
                <a:extLst>
                  <a:ext uri="{FF2B5EF4-FFF2-40B4-BE49-F238E27FC236}">
                    <a16:creationId xmlns:a16="http://schemas.microsoft.com/office/drawing/2014/main" id="{E50D70E3-A841-71FA-C40E-0830274757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4" name="Line 73">
                <a:extLst>
                  <a:ext uri="{FF2B5EF4-FFF2-40B4-BE49-F238E27FC236}">
                    <a16:creationId xmlns:a16="http://schemas.microsoft.com/office/drawing/2014/main" id="{5BAA24B8-BB41-D37B-8A20-D35D464E7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5" name="Line 74">
                <a:extLst>
                  <a:ext uri="{FF2B5EF4-FFF2-40B4-BE49-F238E27FC236}">
                    <a16:creationId xmlns:a16="http://schemas.microsoft.com/office/drawing/2014/main" id="{8F71E2B1-DF42-3BD2-8070-1126A0DA2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49" name="Rectangle 75">
              <a:extLst>
                <a:ext uri="{FF2B5EF4-FFF2-40B4-BE49-F238E27FC236}">
                  <a16:creationId xmlns:a16="http://schemas.microsoft.com/office/drawing/2014/main" id="{A73297D5-85B6-1E0F-3DFF-C0B3CF892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3203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" name="Rectangle 76">
              <a:extLst>
                <a:ext uri="{FF2B5EF4-FFF2-40B4-BE49-F238E27FC236}">
                  <a16:creationId xmlns:a16="http://schemas.microsoft.com/office/drawing/2014/main" id="{73106F88-E341-EDFD-8651-A43DBA68C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3203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1" name="Rectangle 77">
              <a:extLst>
                <a:ext uri="{FF2B5EF4-FFF2-40B4-BE49-F238E27FC236}">
                  <a16:creationId xmlns:a16="http://schemas.microsoft.com/office/drawing/2014/main" id="{471A9EBF-BEC8-F81C-38A7-C009555E0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4065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2" name="Rectangle 78">
              <a:extLst>
                <a:ext uri="{FF2B5EF4-FFF2-40B4-BE49-F238E27FC236}">
                  <a16:creationId xmlns:a16="http://schemas.microsoft.com/office/drawing/2014/main" id="{EE88E2DD-F10D-F7FF-BE80-3EEEFD74A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4065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4DC49962-3819-4143-C3DF-51EDACF03D3D}"/>
              </a:ext>
            </a:extLst>
          </p:cNvPr>
          <p:cNvGrpSpPr/>
          <p:nvPr/>
        </p:nvGrpSpPr>
        <p:grpSpPr>
          <a:xfrm>
            <a:off x="7265357" y="846110"/>
            <a:ext cx="3035300" cy="2051050"/>
            <a:chOff x="2484438" y="4114800"/>
            <a:chExt cx="3529012" cy="2232025"/>
          </a:xfrm>
        </p:grpSpPr>
        <p:sp>
          <p:nvSpPr>
            <p:cNvPr id="80" name="Line 40">
              <a:extLst>
                <a:ext uri="{FF2B5EF4-FFF2-40B4-BE49-F238E27FC236}">
                  <a16:creationId xmlns:a16="http://schemas.microsoft.com/office/drawing/2014/main" id="{922FD5DC-5647-FC27-3BB5-4967F99A9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663" y="4114800"/>
              <a:ext cx="0" cy="22320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grpSp>
          <p:nvGrpSpPr>
            <p:cNvPr id="81" name="Group 44">
              <a:extLst>
                <a:ext uri="{FF2B5EF4-FFF2-40B4-BE49-F238E27FC236}">
                  <a16:creationId xmlns:a16="http://schemas.microsoft.com/office/drawing/2014/main" id="{BFBE7FA7-091F-EEC6-3BFE-3F54AEB190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4438" y="4437063"/>
              <a:ext cx="3529012" cy="1765300"/>
              <a:chOff x="567" y="2931"/>
              <a:chExt cx="1996" cy="998"/>
            </a:xfrm>
          </p:grpSpPr>
          <p:sp>
            <p:nvSpPr>
              <p:cNvPr id="82" name="Rectangle 24">
                <a:extLst>
                  <a:ext uri="{FF2B5EF4-FFF2-40B4-BE49-F238E27FC236}">
                    <a16:creationId xmlns:a16="http://schemas.microsoft.com/office/drawing/2014/main" id="{7D49D905-9C81-4EAC-BDEA-A3A9F6E1D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2931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3" name="Rectangle 25">
                <a:extLst>
                  <a:ext uri="{FF2B5EF4-FFF2-40B4-BE49-F238E27FC236}">
                    <a16:creationId xmlns:a16="http://schemas.microsoft.com/office/drawing/2014/main" id="{C821C7A9-BE44-FB88-EFB2-1815FB6C1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3793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4" name="Rectangle 26">
                <a:extLst>
                  <a:ext uri="{FF2B5EF4-FFF2-40B4-BE49-F238E27FC236}">
                    <a16:creationId xmlns:a16="http://schemas.microsoft.com/office/drawing/2014/main" id="{4B3637D2-CA0F-BA2A-01A5-82314115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2931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5" name="Rectangle 27">
                <a:extLst>
                  <a:ext uri="{FF2B5EF4-FFF2-40B4-BE49-F238E27FC236}">
                    <a16:creationId xmlns:a16="http://schemas.microsoft.com/office/drawing/2014/main" id="{68565181-BBA4-762E-85FF-D4E80C7A0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5" y="3793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6" name="Rectangle 28">
                <a:extLst>
                  <a:ext uri="{FF2B5EF4-FFF2-40B4-BE49-F238E27FC236}">
                    <a16:creationId xmlns:a16="http://schemas.microsoft.com/office/drawing/2014/main" id="{F5CB5766-7BB9-11C3-5A02-18D080951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2931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7" name="Rectangle 29">
                <a:extLst>
                  <a:ext uri="{FF2B5EF4-FFF2-40B4-BE49-F238E27FC236}">
                    <a16:creationId xmlns:a16="http://schemas.microsoft.com/office/drawing/2014/main" id="{5214E7D2-C84C-AFEC-4AEA-7B948A015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3793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88" name="Line 30">
                <a:extLst>
                  <a:ext uri="{FF2B5EF4-FFF2-40B4-BE49-F238E27FC236}">
                    <a16:creationId xmlns:a16="http://schemas.microsoft.com/office/drawing/2014/main" id="{25DDF233-EFFB-8301-A05F-035F6349B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0" y="3431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9" name="Line 31">
                <a:extLst>
                  <a:ext uri="{FF2B5EF4-FFF2-40B4-BE49-F238E27FC236}">
                    <a16:creationId xmlns:a16="http://schemas.microsoft.com/office/drawing/2014/main" id="{5CA92B80-CD70-8626-FE42-06723C251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0" y="3385"/>
                <a:ext cx="91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0" name="Line 32">
                <a:extLst>
                  <a:ext uri="{FF2B5EF4-FFF2-40B4-BE49-F238E27FC236}">
                    <a16:creationId xmlns:a16="http://schemas.microsoft.com/office/drawing/2014/main" id="{31EDC2E6-13E4-3DB0-D59E-FFFABF249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89" y="3431"/>
                <a:ext cx="91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1" name="Line 33">
                <a:extLst>
                  <a:ext uri="{FF2B5EF4-FFF2-40B4-BE49-F238E27FC236}">
                    <a16:creationId xmlns:a16="http://schemas.microsoft.com/office/drawing/2014/main" id="{C4679EEA-20F9-3D8F-F441-692475081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3431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2" name="Line 34">
                <a:extLst>
                  <a:ext uri="{FF2B5EF4-FFF2-40B4-BE49-F238E27FC236}">
                    <a16:creationId xmlns:a16="http://schemas.microsoft.com/office/drawing/2014/main" id="{1624EFC1-BDEB-0E54-2427-94155C8120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3" y="3385"/>
                <a:ext cx="91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3" name="Line 35">
                <a:extLst>
                  <a:ext uri="{FF2B5EF4-FFF2-40B4-BE49-F238E27FC236}">
                    <a16:creationId xmlns:a16="http://schemas.microsoft.com/office/drawing/2014/main" id="{A1226D27-D885-2374-16CE-AA5E33255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2" y="3431"/>
                <a:ext cx="91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4" name="Rectangle 36">
                <a:extLst>
                  <a:ext uri="{FF2B5EF4-FFF2-40B4-BE49-F238E27FC236}">
                    <a16:creationId xmlns:a16="http://schemas.microsoft.com/office/drawing/2014/main" id="{B4FA9E56-B498-DFE3-3B18-BDA5FD4DC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95" name="Rectangle 37">
                <a:extLst>
                  <a:ext uri="{FF2B5EF4-FFF2-40B4-BE49-F238E27FC236}">
                    <a16:creationId xmlns:a16="http://schemas.microsoft.com/office/drawing/2014/main" id="{E8F58193-0897-9D76-9DB9-E2F6F8F3E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96" name="Rectangle 38">
                <a:extLst>
                  <a:ext uri="{FF2B5EF4-FFF2-40B4-BE49-F238E27FC236}">
                    <a16:creationId xmlns:a16="http://schemas.microsoft.com/office/drawing/2014/main" id="{42DBFC4A-3CE8-A919-FC0B-07CAFB95D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5" y="3067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97" name="Rectangle 39">
                <a:extLst>
                  <a:ext uri="{FF2B5EF4-FFF2-40B4-BE49-F238E27FC236}">
                    <a16:creationId xmlns:a16="http://schemas.microsoft.com/office/drawing/2014/main" id="{7870BD82-0152-2B37-0448-8BE113A9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1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98" name="Rectangle 41">
                <a:extLst>
                  <a:ext uri="{FF2B5EF4-FFF2-40B4-BE49-F238E27FC236}">
                    <a16:creationId xmlns:a16="http://schemas.microsoft.com/office/drawing/2014/main" id="{3840B669-DC54-481C-3251-604A7F4DB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0" y="2931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99" name="Rectangle 42">
                <a:extLst>
                  <a:ext uri="{FF2B5EF4-FFF2-40B4-BE49-F238E27FC236}">
                    <a16:creationId xmlns:a16="http://schemas.microsoft.com/office/drawing/2014/main" id="{6F877B5E-500F-E6B2-3A7D-FE2614EBD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0" y="2931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00" name="Rectangle 43">
                <a:extLst>
                  <a:ext uri="{FF2B5EF4-FFF2-40B4-BE49-F238E27FC236}">
                    <a16:creationId xmlns:a16="http://schemas.microsoft.com/office/drawing/2014/main" id="{562A4F1D-1BA3-5498-EBC9-4F6347A31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0" y="3793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</p:grpSp>
      </p:grpSp>
      <p:pic>
        <p:nvPicPr>
          <p:cNvPr id="102" name="Imagen 101">
            <a:extLst>
              <a:ext uri="{FF2B5EF4-FFF2-40B4-BE49-F238E27FC236}">
                <a16:creationId xmlns:a16="http://schemas.microsoft.com/office/drawing/2014/main" id="{4C118325-0957-6797-C9C7-F4B57478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371" y="3008083"/>
            <a:ext cx="3393072" cy="1802569"/>
          </a:xfrm>
          <a:prstGeom prst="rect">
            <a:avLst/>
          </a:prstGeom>
        </p:spPr>
      </p:pic>
      <p:grpSp>
        <p:nvGrpSpPr>
          <p:cNvPr id="103" name="Grupo 102">
            <a:extLst>
              <a:ext uri="{FF2B5EF4-FFF2-40B4-BE49-F238E27FC236}">
                <a16:creationId xmlns:a16="http://schemas.microsoft.com/office/drawing/2014/main" id="{E9FF608D-EB77-1930-9D65-1268C8C99EEF}"/>
              </a:ext>
            </a:extLst>
          </p:cNvPr>
          <p:cNvGrpSpPr/>
          <p:nvPr/>
        </p:nvGrpSpPr>
        <p:grpSpPr>
          <a:xfrm>
            <a:off x="7312873" y="4807436"/>
            <a:ext cx="3051393" cy="2180332"/>
            <a:chOff x="1258888" y="4581525"/>
            <a:chExt cx="3241675" cy="2160588"/>
          </a:xfrm>
        </p:grpSpPr>
        <p:grpSp>
          <p:nvGrpSpPr>
            <p:cNvPr id="104" name="Group 68">
              <a:extLst>
                <a:ext uri="{FF2B5EF4-FFF2-40B4-BE49-F238E27FC236}">
                  <a16:creationId xmlns:a16="http://schemas.microsoft.com/office/drawing/2014/main" id="{B992C39F-3A21-7A14-AF7A-6A73C88ED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4724400"/>
              <a:ext cx="3241675" cy="1782763"/>
              <a:chOff x="793" y="2931"/>
              <a:chExt cx="1815" cy="998"/>
            </a:xfrm>
          </p:grpSpPr>
          <p:sp>
            <p:nvSpPr>
              <p:cNvPr id="106" name="Rectangle 47">
                <a:extLst>
                  <a:ext uri="{FF2B5EF4-FFF2-40B4-BE49-F238E27FC236}">
                    <a16:creationId xmlns:a16="http://schemas.microsoft.com/office/drawing/2014/main" id="{D8402FF6-B603-16A5-BCD0-189196346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4" y="2931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07" name="Rectangle 48">
                <a:extLst>
                  <a:ext uri="{FF2B5EF4-FFF2-40B4-BE49-F238E27FC236}">
                    <a16:creationId xmlns:a16="http://schemas.microsoft.com/office/drawing/2014/main" id="{830D9460-92A0-D5B9-2497-E24CB6BC4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4" y="3793"/>
                <a:ext cx="136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08" name="Rectangle 49">
                <a:extLst>
                  <a:ext uri="{FF2B5EF4-FFF2-40B4-BE49-F238E27FC236}">
                    <a16:creationId xmlns:a16="http://schemas.microsoft.com/office/drawing/2014/main" id="{A512A76A-9413-E728-2B0C-FCFCC2120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1" y="2931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09" name="Rectangle 50">
                <a:extLst>
                  <a:ext uri="{FF2B5EF4-FFF2-40B4-BE49-F238E27FC236}">
                    <a16:creationId xmlns:a16="http://schemas.microsoft.com/office/drawing/2014/main" id="{40B1B939-C554-A625-4DA8-96F625BEB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0" y="3793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10" name="Rectangle 51">
                <a:extLst>
                  <a:ext uri="{FF2B5EF4-FFF2-40B4-BE49-F238E27FC236}">
                    <a16:creationId xmlns:a16="http://schemas.microsoft.com/office/drawing/2014/main" id="{7BA14A8F-4816-9959-7FB8-65E07DC42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931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11" name="Rectangle 52">
                <a:extLst>
                  <a:ext uri="{FF2B5EF4-FFF2-40B4-BE49-F238E27FC236}">
                    <a16:creationId xmlns:a16="http://schemas.microsoft.com/office/drawing/2014/main" id="{581022CC-966E-7840-ED85-0640F8BFB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793"/>
                <a:ext cx="137" cy="136"/>
              </a:xfrm>
              <a:prstGeom prst="rect">
                <a:avLst/>
              </a:prstGeom>
              <a:solidFill>
                <a:srgbClr val="CC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12" name="Line 53">
                <a:extLst>
                  <a:ext uri="{FF2B5EF4-FFF2-40B4-BE49-F238E27FC236}">
                    <a16:creationId xmlns:a16="http://schemas.microsoft.com/office/drawing/2014/main" id="{0A4E8B96-C8D6-DA0B-D847-A03A77E64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" y="3431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3" name="Line 54">
                <a:extLst>
                  <a:ext uri="{FF2B5EF4-FFF2-40B4-BE49-F238E27FC236}">
                    <a16:creationId xmlns:a16="http://schemas.microsoft.com/office/drawing/2014/main" id="{349D55F6-97EA-4734-B6AA-1423F07FF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5" y="3385"/>
                <a:ext cx="91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4" name="Line 55">
                <a:extLst>
                  <a:ext uri="{FF2B5EF4-FFF2-40B4-BE49-F238E27FC236}">
                    <a16:creationId xmlns:a16="http://schemas.microsoft.com/office/drawing/2014/main" id="{0B03C91E-CF89-2E97-C971-4CD87CB80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34" y="3431"/>
                <a:ext cx="91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5" name="Line 56">
                <a:extLst>
                  <a:ext uri="{FF2B5EF4-FFF2-40B4-BE49-F238E27FC236}">
                    <a16:creationId xmlns:a16="http://schemas.microsoft.com/office/drawing/2014/main" id="{0C31BD80-59D0-F676-074B-FFF79897D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9" y="3431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6" name="Line 57">
                <a:extLst>
                  <a:ext uri="{FF2B5EF4-FFF2-40B4-BE49-F238E27FC236}">
                    <a16:creationId xmlns:a16="http://schemas.microsoft.com/office/drawing/2014/main" id="{DB6B7634-CA1E-C29C-B23F-5DB87FF74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9" y="3385"/>
                <a:ext cx="91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7" name="Line 58">
                <a:extLst>
                  <a:ext uri="{FF2B5EF4-FFF2-40B4-BE49-F238E27FC236}">
                    <a16:creationId xmlns:a16="http://schemas.microsoft.com/office/drawing/2014/main" id="{067C7F6B-4301-F39F-36E1-BF59CF596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18" y="3431"/>
                <a:ext cx="91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8" name="Rectangle 59">
                <a:extLst>
                  <a:ext uri="{FF2B5EF4-FFF2-40B4-BE49-F238E27FC236}">
                    <a16:creationId xmlns:a16="http://schemas.microsoft.com/office/drawing/2014/main" id="{82BF0674-F5D7-9B57-C6FF-7B45EB08C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19" name="Rectangle 60">
                <a:extLst>
                  <a:ext uri="{FF2B5EF4-FFF2-40B4-BE49-F238E27FC236}">
                    <a16:creationId xmlns:a16="http://schemas.microsoft.com/office/drawing/2014/main" id="{8B7503D8-61B8-2C00-A9E2-9B1B5E00D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  <p:sp>
            <p:nvSpPr>
              <p:cNvPr id="120" name="Rectangle 62">
                <a:extLst>
                  <a:ext uri="{FF2B5EF4-FFF2-40B4-BE49-F238E27FC236}">
                    <a16:creationId xmlns:a16="http://schemas.microsoft.com/office/drawing/2014/main" id="{0812BE29-09BE-2FD7-7D07-2A2065781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6" y="3068"/>
                <a:ext cx="45" cy="725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s-ES" altLang="es-ES" sz="1800"/>
              </a:p>
            </p:txBody>
          </p:sp>
        </p:grpSp>
        <p:sp>
          <p:nvSpPr>
            <p:cNvPr id="105" name="Line 69">
              <a:extLst>
                <a:ext uri="{FF2B5EF4-FFF2-40B4-BE49-F238E27FC236}">
                  <a16:creationId xmlns:a16="http://schemas.microsoft.com/office/drawing/2014/main" id="{F63639CD-5B57-F7BB-65DD-FEF9A4315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238" y="4581525"/>
              <a:ext cx="0" cy="21605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E8D7FB-14D6-607E-590C-FD5340C91BD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CB91F7-BD31-6C74-4C37-93CCEE6C2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DC31F3-7DDA-64CD-355B-001659ED4344}"/>
              </a:ext>
            </a:extLst>
          </p:cNvPr>
          <p:cNvSpPr txBox="1"/>
          <p:nvPr/>
        </p:nvSpPr>
        <p:spPr>
          <a:xfrm>
            <a:off x="1251905" y="1401378"/>
            <a:ext cx="312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b="1" dirty="0">
                <a:solidFill>
                  <a:srgbClr val="C00000"/>
                </a:solidFill>
              </a:rPr>
              <a:t>Juntas paralelas a forjado</a:t>
            </a:r>
            <a:endParaRPr lang="es-ES" b="1" dirty="0">
              <a:solidFill>
                <a:srgbClr val="C00000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6FD5E04-77BB-B98A-6430-2260C7180152}"/>
              </a:ext>
            </a:extLst>
          </p:cNvPr>
          <p:cNvSpPr txBox="1"/>
          <p:nvPr/>
        </p:nvSpPr>
        <p:spPr>
          <a:xfrm>
            <a:off x="6803721" y="725992"/>
            <a:ext cx="3913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b="1" dirty="0">
                <a:solidFill>
                  <a:srgbClr val="C00000"/>
                </a:solidFill>
              </a:rPr>
              <a:t>Juntas perpendiculares a forjado</a:t>
            </a:r>
            <a:endParaRPr lang="es-ES" b="1" dirty="0">
              <a:solidFill>
                <a:srgbClr val="C0000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D994F021-AD1E-8879-4E33-A0F7E26A3C7B}"/>
              </a:ext>
            </a:extLst>
          </p:cNvPr>
          <p:cNvSpPr txBox="1"/>
          <p:nvPr/>
        </p:nvSpPr>
        <p:spPr>
          <a:xfrm>
            <a:off x="4438414" y="3600699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40D8664-3001-C391-F1D9-B5AD7F6C9EEA}"/>
              </a:ext>
            </a:extLst>
          </p:cNvPr>
          <p:cNvSpPr txBox="1"/>
          <p:nvPr/>
        </p:nvSpPr>
        <p:spPr>
          <a:xfrm>
            <a:off x="4457004" y="6063145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DA1EE319-73CA-290F-50F8-3425F2399D40}"/>
              </a:ext>
            </a:extLst>
          </p:cNvPr>
          <p:cNvSpPr txBox="1"/>
          <p:nvPr/>
        </p:nvSpPr>
        <p:spPr>
          <a:xfrm>
            <a:off x="10539264" y="2526351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6308B191-A1DF-1C14-5DFC-A2A3929820E4}"/>
              </a:ext>
            </a:extLst>
          </p:cNvPr>
          <p:cNvSpPr txBox="1"/>
          <p:nvPr/>
        </p:nvSpPr>
        <p:spPr>
          <a:xfrm>
            <a:off x="10539264" y="4330664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D5C7765E-2B47-9505-F5C9-0BB4A4596F53}"/>
              </a:ext>
            </a:extLst>
          </p:cNvPr>
          <p:cNvSpPr txBox="1"/>
          <p:nvPr/>
        </p:nvSpPr>
        <p:spPr>
          <a:xfrm>
            <a:off x="10539264" y="6320628"/>
            <a:ext cx="35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26256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>
            <a:extLst>
              <a:ext uri="{FF2B5EF4-FFF2-40B4-BE49-F238E27FC236}">
                <a16:creationId xmlns:a16="http://schemas.microsoft.com/office/drawing/2014/main" id="{581A7081-6ABA-D681-DD88-23C12AE72F5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48133" name="Rectangle 6">
            <a:extLst>
              <a:ext uri="{FF2B5EF4-FFF2-40B4-BE49-F238E27FC236}">
                <a16:creationId xmlns:a16="http://schemas.microsoft.com/office/drawing/2014/main" id="{6B3CD873-07E8-64B8-CF54-3DB7BDB80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0"/>
            <a:ext cx="8675687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8142" name="Rectangle 2">
            <a:extLst>
              <a:ext uri="{FF2B5EF4-FFF2-40B4-BE49-F238E27FC236}">
                <a16:creationId xmlns:a16="http://schemas.microsoft.com/office/drawing/2014/main" id="{ECCB4292-6B0F-8ADB-9A5E-8B14FD51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48143" name="Rectangle 17">
            <a:extLst>
              <a:ext uri="{FF2B5EF4-FFF2-40B4-BE49-F238E27FC236}">
                <a16:creationId xmlns:a16="http://schemas.microsoft.com/office/drawing/2014/main" id="{38552795-A380-DE3A-1379-8FF59E13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8144" name="Rectangle 18">
            <a:extLst>
              <a:ext uri="{FF2B5EF4-FFF2-40B4-BE49-F238E27FC236}">
                <a16:creationId xmlns:a16="http://schemas.microsoft.com/office/drawing/2014/main" id="{B660FA79-3283-AEB1-CDD6-2572AB8D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9"/>
            <a:ext cx="5168916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PARALELAS a la dirección de forjado.</a:t>
            </a:r>
          </a:p>
        </p:txBody>
      </p:sp>
      <p:pic>
        <p:nvPicPr>
          <p:cNvPr id="48145" name="Picture 6" descr="juntas en edificios">
            <a:extLst>
              <a:ext uri="{FF2B5EF4-FFF2-40B4-BE49-F238E27FC236}">
                <a16:creationId xmlns:a16="http://schemas.microsoft.com/office/drawing/2014/main" id="{8454544C-ADAF-D0C4-E714-0AFD5CFCD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" t="11929" r="48216" b="53581"/>
          <a:stretch>
            <a:fillRect/>
          </a:stretch>
        </p:blipFill>
        <p:spPr bwMode="auto">
          <a:xfrm>
            <a:off x="2279650" y="2276476"/>
            <a:ext cx="4464050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6" name="Rectangle 22">
            <a:extLst>
              <a:ext uri="{FF2B5EF4-FFF2-40B4-BE49-F238E27FC236}">
                <a16:creationId xmlns:a16="http://schemas.microsoft.com/office/drawing/2014/main" id="{7698C3F5-FCD3-A723-88C7-399387D7B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731044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Doble pilar</a:t>
            </a:r>
          </a:p>
        </p:txBody>
      </p:sp>
      <p:sp>
        <p:nvSpPr>
          <p:cNvPr id="48147" name="Line 23">
            <a:extLst>
              <a:ext uri="{FF2B5EF4-FFF2-40B4-BE49-F238E27FC236}">
                <a16:creationId xmlns:a16="http://schemas.microsoft.com/office/drawing/2014/main" id="{356ECE2C-1B29-A8BB-8B38-0ED2ABB38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2708275"/>
            <a:ext cx="0" cy="2808288"/>
          </a:xfrm>
          <a:prstGeom prst="line">
            <a:avLst/>
          </a:prstGeom>
          <a:noFill/>
          <a:ln w="222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48" name="Line 24">
            <a:extLst>
              <a:ext uri="{FF2B5EF4-FFF2-40B4-BE49-F238E27FC236}">
                <a16:creationId xmlns:a16="http://schemas.microsoft.com/office/drawing/2014/main" id="{75968BD9-1125-7A29-579E-8A3A8E971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1" y="5300663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49" name="Line 25">
            <a:extLst>
              <a:ext uri="{FF2B5EF4-FFF2-40B4-BE49-F238E27FC236}">
                <a16:creationId xmlns:a16="http://schemas.microsoft.com/office/drawing/2014/main" id="{7167B797-B6E4-100F-84F9-359914FD9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3114" y="5300663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50" name="Rectangle 26">
            <a:extLst>
              <a:ext uri="{FF2B5EF4-FFF2-40B4-BE49-F238E27FC236}">
                <a16:creationId xmlns:a16="http://schemas.microsoft.com/office/drawing/2014/main" id="{E8C3A2C4-B01C-EDAE-9457-5EFE1563D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5013325"/>
            <a:ext cx="657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200" b="1"/>
              <a:t>≤ 40 m</a:t>
            </a:r>
          </a:p>
        </p:txBody>
      </p:sp>
      <p:sp>
        <p:nvSpPr>
          <p:cNvPr id="48151" name="Rectangle 27">
            <a:extLst>
              <a:ext uri="{FF2B5EF4-FFF2-40B4-BE49-F238E27FC236}">
                <a16:creationId xmlns:a16="http://schemas.microsoft.com/office/drawing/2014/main" id="{968F757D-C556-3A7D-0DBA-C20A75058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5013325"/>
            <a:ext cx="657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200" b="1"/>
              <a:t>≤ 40 m</a:t>
            </a:r>
          </a:p>
        </p:txBody>
      </p:sp>
      <p:sp>
        <p:nvSpPr>
          <p:cNvPr id="48152" name="Rectangle 28">
            <a:extLst>
              <a:ext uri="{FF2B5EF4-FFF2-40B4-BE49-F238E27FC236}">
                <a16:creationId xmlns:a16="http://schemas.microsoft.com/office/drawing/2014/main" id="{F721EBC7-5EA3-46C0-8E26-8210102D4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565401"/>
            <a:ext cx="434847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</a:t>
            </a:r>
            <a:r>
              <a:rPr lang="es-ES" altLang="es-ES" sz="1400" b="1" dirty="0">
                <a:solidFill>
                  <a:srgbClr val="C00000"/>
                </a:solidFill>
              </a:rPr>
              <a:t>Los nudos podrán ser de cualquier tipo: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b="1" dirty="0">
                <a:solidFill>
                  <a:srgbClr val="C00000"/>
                </a:solidFill>
              </a:rPr>
              <a:t>(rígidos, semirrígidos, articulados…)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Separación mínima entre soportes  5cm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NSCR02 – Criterios</a:t>
            </a:r>
          </a:p>
        </p:txBody>
      </p:sp>
      <p:grpSp>
        <p:nvGrpSpPr>
          <p:cNvPr id="48153" name="Group 53">
            <a:extLst>
              <a:ext uri="{FF2B5EF4-FFF2-40B4-BE49-F238E27FC236}">
                <a16:creationId xmlns:a16="http://schemas.microsoft.com/office/drawing/2014/main" id="{362BD037-B6E7-4999-38B7-6EA1361514AE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4724400"/>
            <a:ext cx="3386138" cy="1944688"/>
            <a:chOff x="3243" y="2795"/>
            <a:chExt cx="2133" cy="1225"/>
          </a:xfrm>
        </p:grpSpPr>
        <p:sp>
          <p:nvSpPr>
            <p:cNvPr id="48154" name="Line 37">
              <a:extLst>
                <a:ext uri="{FF2B5EF4-FFF2-40B4-BE49-F238E27FC236}">
                  <a16:creationId xmlns:a16="http://schemas.microsoft.com/office/drawing/2014/main" id="{93AD16B6-7836-863D-7AB7-8459D66A6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795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8155" name="Rectangle 29">
              <a:extLst>
                <a:ext uri="{FF2B5EF4-FFF2-40B4-BE49-F238E27FC236}">
                  <a16:creationId xmlns:a16="http://schemas.microsoft.com/office/drawing/2014/main" id="{1D5B33B4-E805-E4A0-C9ED-CFCD0C99B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931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6" name="Rectangle 30">
              <a:extLst>
                <a:ext uri="{FF2B5EF4-FFF2-40B4-BE49-F238E27FC236}">
                  <a16:creationId xmlns:a16="http://schemas.microsoft.com/office/drawing/2014/main" id="{0A907A38-E926-F6F6-752F-DDDEE609B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7" name="Rectangle 31">
              <a:extLst>
                <a:ext uri="{FF2B5EF4-FFF2-40B4-BE49-F238E27FC236}">
                  <a16:creationId xmlns:a16="http://schemas.microsoft.com/office/drawing/2014/main" id="{6FFBC01A-48B4-C2AC-19D4-6F60180A2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3793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8" name="Rectangle 32">
              <a:extLst>
                <a:ext uri="{FF2B5EF4-FFF2-40B4-BE49-F238E27FC236}">
                  <a16:creationId xmlns:a16="http://schemas.microsoft.com/office/drawing/2014/main" id="{953D264A-AB55-151C-9C0E-CE5D9DB51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9" name="Rectangle 33">
              <a:extLst>
                <a:ext uri="{FF2B5EF4-FFF2-40B4-BE49-F238E27FC236}">
                  <a16:creationId xmlns:a16="http://schemas.microsoft.com/office/drawing/2014/main" id="{F821AEB9-5B07-99FF-0399-A07A1E165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0" name="Rectangle 34">
              <a:extLst>
                <a:ext uri="{FF2B5EF4-FFF2-40B4-BE49-F238E27FC236}">
                  <a16:creationId xmlns:a16="http://schemas.microsoft.com/office/drawing/2014/main" id="{E5985521-9246-5158-B9FE-F41B3E062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1" name="Rectangle 35">
              <a:extLst>
                <a:ext uri="{FF2B5EF4-FFF2-40B4-BE49-F238E27FC236}">
                  <a16:creationId xmlns:a16="http://schemas.microsoft.com/office/drawing/2014/main" id="{5961ABC8-680E-BCF5-3D15-6C77F4AF7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2" name="Rectangle 36">
              <a:extLst>
                <a:ext uri="{FF2B5EF4-FFF2-40B4-BE49-F238E27FC236}">
                  <a16:creationId xmlns:a16="http://schemas.microsoft.com/office/drawing/2014/main" id="{CA3881F2-896A-92A9-CA20-94BADA5E1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48163" name="Group 41">
              <a:extLst>
                <a:ext uri="{FF2B5EF4-FFF2-40B4-BE49-F238E27FC236}">
                  <a16:creationId xmlns:a16="http://schemas.microsoft.com/office/drawing/2014/main" id="{DA7F8DF2-ACAA-1350-77A0-998E0A27FC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" y="3113"/>
              <a:ext cx="97" cy="635"/>
              <a:chOff x="3651" y="3203"/>
              <a:chExt cx="97" cy="635"/>
            </a:xfrm>
          </p:grpSpPr>
          <p:sp>
            <p:nvSpPr>
              <p:cNvPr id="48172" name="Line 38">
                <a:extLst>
                  <a:ext uri="{FF2B5EF4-FFF2-40B4-BE49-F238E27FC236}">
                    <a16:creationId xmlns:a16="http://schemas.microsoft.com/office/drawing/2014/main" id="{D53ED908-B6FB-584A-AD9E-BAB9156EA0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3" name="Line 39">
                <a:extLst>
                  <a:ext uri="{FF2B5EF4-FFF2-40B4-BE49-F238E27FC236}">
                    <a16:creationId xmlns:a16="http://schemas.microsoft.com/office/drawing/2014/main" id="{B0A252CA-776C-04A3-CCC9-89CAFEE00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4" name="Line 40">
                <a:extLst>
                  <a:ext uri="{FF2B5EF4-FFF2-40B4-BE49-F238E27FC236}">
                    <a16:creationId xmlns:a16="http://schemas.microsoft.com/office/drawing/2014/main" id="{46733679-4379-87AD-1005-2F5B2BA76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48164" name="Group 42">
              <a:extLst>
                <a:ext uri="{FF2B5EF4-FFF2-40B4-BE49-F238E27FC236}">
                  <a16:creationId xmlns:a16="http://schemas.microsoft.com/office/drawing/2014/main" id="{BBE86FF4-1A4B-983F-C836-2C7421BAC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3113"/>
              <a:ext cx="97" cy="635"/>
              <a:chOff x="3651" y="3203"/>
              <a:chExt cx="97" cy="635"/>
            </a:xfrm>
          </p:grpSpPr>
          <p:sp>
            <p:nvSpPr>
              <p:cNvPr id="48169" name="Line 43">
                <a:extLst>
                  <a:ext uri="{FF2B5EF4-FFF2-40B4-BE49-F238E27FC236}">
                    <a16:creationId xmlns:a16="http://schemas.microsoft.com/office/drawing/2014/main" id="{BBA1561F-3B23-4EF2-9536-B6352728C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0" name="Line 44">
                <a:extLst>
                  <a:ext uri="{FF2B5EF4-FFF2-40B4-BE49-F238E27FC236}">
                    <a16:creationId xmlns:a16="http://schemas.microsoft.com/office/drawing/2014/main" id="{02D4B050-6E26-61F0-3019-DC311C0A0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1" name="Line 45">
                <a:extLst>
                  <a:ext uri="{FF2B5EF4-FFF2-40B4-BE49-F238E27FC236}">
                    <a16:creationId xmlns:a16="http://schemas.microsoft.com/office/drawing/2014/main" id="{76E80EAB-5821-FD74-CBED-FBC976456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48165" name="Rectangle 47">
              <a:extLst>
                <a:ext uri="{FF2B5EF4-FFF2-40B4-BE49-F238E27FC236}">
                  <a16:creationId xmlns:a16="http://schemas.microsoft.com/office/drawing/2014/main" id="{B69CEB37-76AD-7BD7-DC24-A239400D1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976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6" name="Rectangle 48">
              <a:extLst>
                <a:ext uri="{FF2B5EF4-FFF2-40B4-BE49-F238E27FC236}">
                  <a16:creationId xmlns:a16="http://schemas.microsoft.com/office/drawing/2014/main" id="{1963830F-F8EB-D7C9-106B-506ECA9E6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976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7" name="Rectangle 49">
              <a:extLst>
                <a:ext uri="{FF2B5EF4-FFF2-40B4-BE49-F238E27FC236}">
                  <a16:creationId xmlns:a16="http://schemas.microsoft.com/office/drawing/2014/main" id="{931090DB-8AF2-E890-AD61-A2547DC16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838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8" name="Rectangle 50">
              <a:extLst>
                <a:ext uri="{FF2B5EF4-FFF2-40B4-BE49-F238E27FC236}">
                  <a16:creationId xmlns:a16="http://schemas.microsoft.com/office/drawing/2014/main" id="{7A301AA1-7350-7D13-BFBD-B6DBBD63A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3838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4C47B9B-DC8A-383F-C1FE-91A87130ECC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DFE6006-E6B9-8F80-561C-BB062190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32084B5-645C-C53E-FA99-38DEFBEDDA04}"/>
              </a:ext>
            </a:extLst>
          </p:cNvPr>
          <p:cNvSpPr/>
          <p:nvPr/>
        </p:nvSpPr>
        <p:spPr>
          <a:xfrm>
            <a:off x="7802720" y="4255770"/>
            <a:ext cx="1386523" cy="158496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44387F85-FBAD-D015-8272-40D122322609}"/>
              </a:ext>
            </a:extLst>
          </p:cNvPr>
          <p:cNvSpPr/>
          <p:nvPr/>
        </p:nvSpPr>
        <p:spPr>
          <a:xfrm>
            <a:off x="10932160" y="4074160"/>
            <a:ext cx="934720" cy="3693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5A4E-FA44-6DEB-6CE8-B93C2423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>
            <a:extLst>
              <a:ext uri="{FF2B5EF4-FFF2-40B4-BE49-F238E27FC236}">
                <a16:creationId xmlns:a16="http://schemas.microsoft.com/office/drawing/2014/main" id="{86B14B29-17E4-2437-41C9-7F23AFFE36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48133" name="Rectangle 6">
            <a:extLst>
              <a:ext uri="{FF2B5EF4-FFF2-40B4-BE49-F238E27FC236}">
                <a16:creationId xmlns:a16="http://schemas.microsoft.com/office/drawing/2014/main" id="{B1D1076C-BD15-CC09-4F8C-36267B889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0"/>
            <a:ext cx="8675687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8142" name="Rectangle 2">
            <a:extLst>
              <a:ext uri="{FF2B5EF4-FFF2-40B4-BE49-F238E27FC236}">
                <a16:creationId xmlns:a16="http://schemas.microsoft.com/office/drawing/2014/main" id="{049EA644-1985-732A-D7FE-8848248BF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48143" name="Rectangle 17">
            <a:extLst>
              <a:ext uri="{FF2B5EF4-FFF2-40B4-BE49-F238E27FC236}">
                <a16:creationId xmlns:a16="http://schemas.microsoft.com/office/drawing/2014/main" id="{ED34C2A9-307C-17E6-94BC-D99E0F8A2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48144" name="Rectangle 18">
            <a:extLst>
              <a:ext uri="{FF2B5EF4-FFF2-40B4-BE49-F238E27FC236}">
                <a16:creationId xmlns:a16="http://schemas.microsoft.com/office/drawing/2014/main" id="{78025173-B833-7481-121F-4DF5B9C4D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9"/>
            <a:ext cx="5168916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PARALELAS a la dirección de forjado.</a:t>
            </a:r>
          </a:p>
        </p:txBody>
      </p:sp>
      <p:pic>
        <p:nvPicPr>
          <p:cNvPr id="48145" name="Picture 6" descr="juntas en edificios">
            <a:extLst>
              <a:ext uri="{FF2B5EF4-FFF2-40B4-BE49-F238E27FC236}">
                <a16:creationId xmlns:a16="http://schemas.microsoft.com/office/drawing/2014/main" id="{310D58DE-2931-9CF8-3F6F-B00E8DF4D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" t="11929" r="48216" b="53581"/>
          <a:stretch>
            <a:fillRect/>
          </a:stretch>
        </p:blipFill>
        <p:spPr bwMode="auto">
          <a:xfrm>
            <a:off x="2279650" y="2276476"/>
            <a:ext cx="4464050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6" name="Rectangle 22">
            <a:extLst>
              <a:ext uri="{FF2B5EF4-FFF2-40B4-BE49-F238E27FC236}">
                <a16:creationId xmlns:a16="http://schemas.microsoft.com/office/drawing/2014/main" id="{AF904E74-5C5C-4FE5-B396-F95770C5E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731044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Doble pilar</a:t>
            </a:r>
          </a:p>
        </p:txBody>
      </p:sp>
      <p:sp>
        <p:nvSpPr>
          <p:cNvPr id="48147" name="Line 23">
            <a:extLst>
              <a:ext uri="{FF2B5EF4-FFF2-40B4-BE49-F238E27FC236}">
                <a16:creationId xmlns:a16="http://schemas.microsoft.com/office/drawing/2014/main" id="{42E6CE55-270E-3A32-FDAF-BCC7215FA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2708275"/>
            <a:ext cx="0" cy="2808288"/>
          </a:xfrm>
          <a:prstGeom prst="line">
            <a:avLst/>
          </a:prstGeom>
          <a:noFill/>
          <a:ln w="222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48" name="Line 24">
            <a:extLst>
              <a:ext uri="{FF2B5EF4-FFF2-40B4-BE49-F238E27FC236}">
                <a16:creationId xmlns:a16="http://schemas.microsoft.com/office/drawing/2014/main" id="{7CEF5757-BB3B-E3E6-0B53-BBD876159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1" y="5300663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49" name="Line 25">
            <a:extLst>
              <a:ext uri="{FF2B5EF4-FFF2-40B4-BE49-F238E27FC236}">
                <a16:creationId xmlns:a16="http://schemas.microsoft.com/office/drawing/2014/main" id="{91DAE4D8-54F6-8EF7-BEDD-C18CCA454E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3114" y="5300663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48150" name="Rectangle 26">
            <a:extLst>
              <a:ext uri="{FF2B5EF4-FFF2-40B4-BE49-F238E27FC236}">
                <a16:creationId xmlns:a16="http://schemas.microsoft.com/office/drawing/2014/main" id="{4323769D-B09B-6FF4-16F1-DEB245573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5013325"/>
            <a:ext cx="657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200" b="1"/>
              <a:t>≤ 40 m</a:t>
            </a:r>
          </a:p>
        </p:txBody>
      </p:sp>
      <p:sp>
        <p:nvSpPr>
          <p:cNvPr id="48151" name="Rectangle 27">
            <a:extLst>
              <a:ext uri="{FF2B5EF4-FFF2-40B4-BE49-F238E27FC236}">
                <a16:creationId xmlns:a16="http://schemas.microsoft.com/office/drawing/2014/main" id="{B580FA98-CCB2-4DDB-C975-D19750C3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5013325"/>
            <a:ext cx="657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200" b="1"/>
              <a:t>≤ 40 m</a:t>
            </a:r>
          </a:p>
        </p:txBody>
      </p:sp>
      <p:sp>
        <p:nvSpPr>
          <p:cNvPr id="48152" name="Rectangle 28">
            <a:extLst>
              <a:ext uri="{FF2B5EF4-FFF2-40B4-BE49-F238E27FC236}">
                <a16:creationId xmlns:a16="http://schemas.microsoft.com/office/drawing/2014/main" id="{88E0AD72-65FC-F5E9-E8B3-5EBE76643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565401"/>
            <a:ext cx="434847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</a:t>
            </a:r>
            <a:r>
              <a:rPr lang="es-ES" altLang="es-ES" sz="1400" b="1" dirty="0">
                <a:solidFill>
                  <a:srgbClr val="C00000"/>
                </a:solidFill>
              </a:rPr>
              <a:t>Los nudos podrán ser de cualquier tipo: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b="1" dirty="0">
                <a:solidFill>
                  <a:srgbClr val="C00000"/>
                </a:solidFill>
              </a:rPr>
              <a:t>(rígidos, semirrígidos, articulados…)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Separación mínima entre soportes  5cm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NSCR02 – Criterios</a:t>
            </a:r>
          </a:p>
        </p:txBody>
      </p:sp>
      <p:grpSp>
        <p:nvGrpSpPr>
          <p:cNvPr id="48153" name="Group 53">
            <a:extLst>
              <a:ext uri="{FF2B5EF4-FFF2-40B4-BE49-F238E27FC236}">
                <a16:creationId xmlns:a16="http://schemas.microsoft.com/office/drawing/2014/main" id="{42E137D1-D065-06A6-35CE-D63014F1F34F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4724400"/>
            <a:ext cx="3386138" cy="1944688"/>
            <a:chOff x="3243" y="2795"/>
            <a:chExt cx="2133" cy="1225"/>
          </a:xfrm>
        </p:grpSpPr>
        <p:sp>
          <p:nvSpPr>
            <p:cNvPr id="48154" name="Line 37">
              <a:extLst>
                <a:ext uri="{FF2B5EF4-FFF2-40B4-BE49-F238E27FC236}">
                  <a16:creationId xmlns:a16="http://schemas.microsoft.com/office/drawing/2014/main" id="{238FA5D2-A132-C717-A438-91529294B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795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8155" name="Rectangle 29">
              <a:extLst>
                <a:ext uri="{FF2B5EF4-FFF2-40B4-BE49-F238E27FC236}">
                  <a16:creationId xmlns:a16="http://schemas.microsoft.com/office/drawing/2014/main" id="{5300B66C-92B9-2F07-CFF8-8CC2E7F89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931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6" name="Rectangle 30">
              <a:extLst>
                <a:ext uri="{FF2B5EF4-FFF2-40B4-BE49-F238E27FC236}">
                  <a16:creationId xmlns:a16="http://schemas.microsoft.com/office/drawing/2014/main" id="{BD5A8944-6032-1955-ADF1-8BE99E58C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7" name="Rectangle 31">
              <a:extLst>
                <a:ext uri="{FF2B5EF4-FFF2-40B4-BE49-F238E27FC236}">
                  <a16:creationId xmlns:a16="http://schemas.microsoft.com/office/drawing/2014/main" id="{936646C2-364D-26D4-E81C-00A1D53A4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3793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8" name="Rectangle 32">
              <a:extLst>
                <a:ext uri="{FF2B5EF4-FFF2-40B4-BE49-F238E27FC236}">
                  <a16:creationId xmlns:a16="http://schemas.microsoft.com/office/drawing/2014/main" id="{E7748607-57C4-0B90-BA2C-2974D0FA0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59" name="Rectangle 33">
              <a:extLst>
                <a:ext uri="{FF2B5EF4-FFF2-40B4-BE49-F238E27FC236}">
                  <a16:creationId xmlns:a16="http://schemas.microsoft.com/office/drawing/2014/main" id="{860E59CD-329F-6FA9-15EC-89D989A75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0" name="Rectangle 34">
              <a:extLst>
                <a:ext uri="{FF2B5EF4-FFF2-40B4-BE49-F238E27FC236}">
                  <a16:creationId xmlns:a16="http://schemas.microsoft.com/office/drawing/2014/main" id="{6D272F24-D192-7A91-841D-0992D1B9E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1" name="Rectangle 35">
              <a:extLst>
                <a:ext uri="{FF2B5EF4-FFF2-40B4-BE49-F238E27FC236}">
                  <a16:creationId xmlns:a16="http://schemas.microsoft.com/office/drawing/2014/main" id="{754F5058-4203-2A66-4791-F8A84B2F2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2" name="Rectangle 36">
              <a:extLst>
                <a:ext uri="{FF2B5EF4-FFF2-40B4-BE49-F238E27FC236}">
                  <a16:creationId xmlns:a16="http://schemas.microsoft.com/office/drawing/2014/main" id="{6AE7C35C-0BEB-B125-3404-49DEA4A4D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48163" name="Group 41">
              <a:extLst>
                <a:ext uri="{FF2B5EF4-FFF2-40B4-BE49-F238E27FC236}">
                  <a16:creationId xmlns:a16="http://schemas.microsoft.com/office/drawing/2014/main" id="{1F4F519F-10B7-E395-B201-14C6D03DE5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" y="3113"/>
              <a:ext cx="97" cy="635"/>
              <a:chOff x="3651" y="3203"/>
              <a:chExt cx="97" cy="635"/>
            </a:xfrm>
          </p:grpSpPr>
          <p:sp>
            <p:nvSpPr>
              <p:cNvPr id="48172" name="Line 38">
                <a:extLst>
                  <a:ext uri="{FF2B5EF4-FFF2-40B4-BE49-F238E27FC236}">
                    <a16:creationId xmlns:a16="http://schemas.microsoft.com/office/drawing/2014/main" id="{B7F37EB3-8D09-5141-D9DB-CA9D010C3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3" name="Line 39">
                <a:extLst>
                  <a:ext uri="{FF2B5EF4-FFF2-40B4-BE49-F238E27FC236}">
                    <a16:creationId xmlns:a16="http://schemas.microsoft.com/office/drawing/2014/main" id="{BFB5C4D4-7A37-01BC-A04D-B445819A3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4" name="Line 40">
                <a:extLst>
                  <a:ext uri="{FF2B5EF4-FFF2-40B4-BE49-F238E27FC236}">
                    <a16:creationId xmlns:a16="http://schemas.microsoft.com/office/drawing/2014/main" id="{F0EF11F3-E70A-A3FB-975B-9080150961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48164" name="Group 42">
              <a:extLst>
                <a:ext uri="{FF2B5EF4-FFF2-40B4-BE49-F238E27FC236}">
                  <a16:creationId xmlns:a16="http://schemas.microsoft.com/office/drawing/2014/main" id="{25E35E9D-7D1E-A5C3-D0F5-F7FA683A5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3113"/>
              <a:ext cx="97" cy="635"/>
              <a:chOff x="3651" y="3203"/>
              <a:chExt cx="97" cy="635"/>
            </a:xfrm>
          </p:grpSpPr>
          <p:sp>
            <p:nvSpPr>
              <p:cNvPr id="48169" name="Line 43">
                <a:extLst>
                  <a:ext uri="{FF2B5EF4-FFF2-40B4-BE49-F238E27FC236}">
                    <a16:creationId xmlns:a16="http://schemas.microsoft.com/office/drawing/2014/main" id="{2DF12A70-9EE8-9B22-336C-F2B6CA198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0" name="Line 44">
                <a:extLst>
                  <a:ext uri="{FF2B5EF4-FFF2-40B4-BE49-F238E27FC236}">
                    <a16:creationId xmlns:a16="http://schemas.microsoft.com/office/drawing/2014/main" id="{9820376D-315C-3B7E-E8E8-C1C58B965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8171" name="Line 45">
                <a:extLst>
                  <a:ext uri="{FF2B5EF4-FFF2-40B4-BE49-F238E27FC236}">
                    <a16:creationId xmlns:a16="http://schemas.microsoft.com/office/drawing/2014/main" id="{F6D4A2E8-87B7-954D-D8B0-35695BABD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48165" name="Rectangle 47">
              <a:extLst>
                <a:ext uri="{FF2B5EF4-FFF2-40B4-BE49-F238E27FC236}">
                  <a16:creationId xmlns:a16="http://schemas.microsoft.com/office/drawing/2014/main" id="{563E8CEC-1DD4-D11B-6C31-A677F3B19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976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6" name="Rectangle 48">
              <a:extLst>
                <a:ext uri="{FF2B5EF4-FFF2-40B4-BE49-F238E27FC236}">
                  <a16:creationId xmlns:a16="http://schemas.microsoft.com/office/drawing/2014/main" id="{1BEE7AEA-5E2F-EDEB-9453-5D7335867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976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7" name="Rectangle 49">
              <a:extLst>
                <a:ext uri="{FF2B5EF4-FFF2-40B4-BE49-F238E27FC236}">
                  <a16:creationId xmlns:a16="http://schemas.microsoft.com/office/drawing/2014/main" id="{3C9C7BB3-BEAD-4506-4416-3A18E0431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838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48168" name="Rectangle 50">
              <a:extLst>
                <a:ext uri="{FF2B5EF4-FFF2-40B4-BE49-F238E27FC236}">
                  <a16:creationId xmlns:a16="http://schemas.microsoft.com/office/drawing/2014/main" id="{C4B90AF4-2C21-D357-D31E-977789249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3838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817A67E-3DD3-9792-EE0F-840E6A41D58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EBC191C-B20D-7DBA-AA49-F25B79322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6633E69-BCDF-5F4F-F107-D92886052F25}"/>
              </a:ext>
            </a:extLst>
          </p:cNvPr>
          <p:cNvSpPr/>
          <p:nvPr/>
        </p:nvSpPr>
        <p:spPr>
          <a:xfrm>
            <a:off x="7802720" y="4255770"/>
            <a:ext cx="1386523" cy="158496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C668B1-729B-214D-9D7E-51A856DB0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031" y="1478353"/>
            <a:ext cx="8826840" cy="504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49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>
            <a:extLst>
              <a:ext uri="{FF2B5EF4-FFF2-40B4-BE49-F238E27FC236}">
                <a16:creationId xmlns:a16="http://schemas.microsoft.com/office/drawing/2014/main" id="{8C505ABA-EA44-E97B-EE03-F9D93AB9D53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0181" name="Rectangle 6">
            <a:extLst>
              <a:ext uri="{FF2B5EF4-FFF2-40B4-BE49-F238E27FC236}">
                <a16:creationId xmlns:a16="http://schemas.microsoft.com/office/drawing/2014/main" id="{B76697C6-A8D5-ED54-D4A6-1A092F32D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0"/>
            <a:ext cx="8675687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0187" name="Text Box 5">
            <a:extLst>
              <a:ext uri="{FF2B5EF4-FFF2-40B4-BE49-F238E27FC236}">
                <a16:creationId xmlns:a16="http://schemas.microsoft.com/office/drawing/2014/main" id="{F1C7A55D-DA0F-1142-527F-D234AF91EB8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581150" y="3197225"/>
            <a:ext cx="6669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1200">
                <a:solidFill>
                  <a:schemeClr val="bg2"/>
                </a:solidFill>
                <a:latin typeface="Tahoma" panose="020B0604030504040204" pitchFamily="34" charset="0"/>
              </a:rPr>
              <a:t>CONSTRUCCIÓN IV                                                                                </a:t>
            </a:r>
            <a:r>
              <a:rPr lang="es-ES" altLang="es-ES" sz="1200">
                <a:solidFill>
                  <a:schemeClr val="bg2"/>
                </a:solidFill>
              </a:rPr>
              <a:t>E.T.S.I.E</a:t>
            </a:r>
            <a:endParaRPr lang="es-ES" altLang="es-ES" sz="12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50190" name="Rectangle 2">
            <a:extLst>
              <a:ext uri="{FF2B5EF4-FFF2-40B4-BE49-F238E27FC236}">
                <a16:creationId xmlns:a16="http://schemas.microsoft.com/office/drawing/2014/main" id="{82D1D461-1C18-8D38-226F-CD9F452E7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50191" name="Rectangle 17">
            <a:extLst>
              <a:ext uri="{FF2B5EF4-FFF2-40B4-BE49-F238E27FC236}">
                <a16:creationId xmlns:a16="http://schemas.microsoft.com/office/drawing/2014/main" id="{D59DC306-AF54-82C3-10D6-C8FBB295A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0192" name="Rectangle 18">
            <a:extLst>
              <a:ext uri="{FF2B5EF4-FFF2-40B4-BE49-F238E27FC236}">
                <a16:creationId xmlns:a16="http://schemas.microsoft.com/office/drawing/2014/main" id="{B7CA54C0-945F-C99E-B631-95CF7155B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2038"/>
            <a:ext cx="5168916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PARALELAS a la dirección de forjado.</a:t>
            </a:r>
          </a:p>
        </p:txBody>
      </p:sp>
      <p:sp>
        <p:nvSpPr>
          <p:cNvPr id="50193" name="Rectangle 20">
            <a:extLst>
              <a:ext uri="{FF2B5EF4-FFF2-40B4-BE49-F238E27FC236}">
                <a16:creationId xmlns:a16="http://schemas.microsoft.com/office/drawing/2014/main" id="{B0EA2F3E-D986-DD40-DCAB-8A6A4CE2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718864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Único pilar</a:t>
            </a:r>
          </a:p>
        </p:txBody>
      </p:sp>
      <p:grpSp>
        <p:nvGrpSpPr>
          <p:cNvPr id="50194" name="Group 56">
            <a:extLst>
              <a:ext uri="{FF2B5EF4-FFF2-40B4-BE49-F238E27FC236}">
                <a16:creationId xmlns:a16="http://schemas.microsoft.com/office/drawing/2014/main" id="{4EE20419-01E6-44F8-78A5-7A695133C395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2349500"/>
            <a:ext cx="3673475" cy="4319588"/>
            <a:chOff x="476" y="1480"/>
            <a:chExt cx="2314" cy="2721"/>
          </a:xfrm>
        </p:grpSpPr>
        <p:pic>
          <p:nvPicPr>
            <p:cNvPr id="50219" name="Picture 28">
              <a:extLst>
                <a:ext uri="{FF2B5EF4-FFF2-40B4-BE49-F238E27FC236}">
                  <a16:creationId xmlns:a16="http://schemas.microsoft.com/office/drawing/2014/main" id="{058D7BC9-9520-EFD8-EC20-61486D30A4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480"/>
              <a:ext cx="2147" cy="2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220" name="Line 21">
              <a:extLst>
                <a:ext uri="{FF2B5EF4-FFF2-40B4-BE49-F238E27FC236}">
                  <a16:creationId xmlns:a16="http://schemas.microsoft.com/office/drawing/2014/main" id="{4ED8D503-D01C-5F8B-A779-01EDB9402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888"/>
              <a:ext cx="0" cy="176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1" name="Line 22">
              <a:extLst>
                <a:ext uri="{FF2B5EF4-FFF2-40B4-BE49-F238E27FC236}">
                  <a16:creationId xmlns:a16="http://schemas.microsoft.com/office/drawing/2014/main" id="{92A7F9E3-2130-43B8-9437-F99D20FD3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5" y="3611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2" name="Line 23">
              <a:extLst>
                <a:ext uri="{FF2B5EF4-FFF2-40B4-BE49-F238E27FC236}">
                  <a16:creationId xmlns:a16="http://schemas.microsoft.com/office/drawing/2014/main" id="{214FC815-55A2-684D-54AC-2A8AFBD10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3611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3" name="Rectangle 24">
              <a:extLst>
                <a:ext uri="{FF2B5EF4-FFF2-40B4-BE49-F238E27FC236}">
                  <a16:creationId xmlns:a16="http://schemas.microsoft.com/office/drawing/2014/main" id="{B9C92F80-941A-3C9A-C65E-6EC4A998C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430"/>
              <a:ext cx="4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1200" b="1"/>
                <a:t>≤ 40 m</a:t>
              </a:r>
            </a:p>
          </p:txBody>
        </p:sp>
        <p:sp>
          <p:nvSpPr>
            <p:cNvPr id="50224" name="Rectangle 25">
              <a:extLst>
                <a:ext uri="{FF2B5EF4-FFF2-40B4-BE49-F238E27FC236}">
                  <a16:creationId xmlns:a16="http://schemas.microsoft.com/office/drawing/2014/main" id="{25869D4F-28D2-C79F-617C-4DF0211DD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430"/>
              <a:ext cx="4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1200" b="1"/>
                <a:t>≤ 40 m</a:t>
              </a:r>
            </a:p>
          </p:txBody>
        </p:sp>
        <p:sp>
          <p:nvSpPr>
            <p:cNvPr id="50225" name="Rectangle 29">
              <a:extLst>
                <a:ext uri="{FF2B5EF4-FFF2-40B4-BE49-F238E27FC236}">
                  <a16:creationId xmlns:a16="http://schemas.microsoft.com/office/drawing/2014/main" id="{7B4DC216-819F-32EC-032A-8B45E77CE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160"/>
              <a:ext cx="42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900"/>
                <a:t>apoyo fijo</a:t>
              </a:r>
            </a:p>
          </p:txBody>
        </p:sp>
        <p:sp>
          <p:nvSpPr>
            <p:cNvPr id="50226" name="Rectangle 30">
              <a:extLst>
                <a:ext uri="{FF2B5EF4-FFF2-40B4-BE49-F238E27FC236}">
                  <a16:creationId xmlns:a16="http://schemas.microsoft.com/office/drawing/2014/main" id="{152C470B-0809-2978-12E9-B86DB4DB3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160"/>
              <a:ext cx="5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900"/>
                <a:t>apoyo móvil</a:t>
              </a:r>
            </a:p>
          </p:txBody>
        </p:sp>
        <p:grpSp>
          <p:nvGrpSpPr>
            <p:cNvPr id="50227" name="Group 50">
              <a:extLst>
                <a:ext uri="{FF2B5EF4-FFF2-40B4-BE49-F238E27FC236}">
                  <a16:creationId xmlns:a16="http://schemas.microsoft.com/office/drawing/2014/main" id="{852B624A-FF1C-ED62-8F32-833F847BA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2659"/>
              <a:ext cx="91" cy="408"/>
              <a:chOff x="1973" y="2659"/>
              <a:chExt cx="91" cy="408"/>
            </a:xfrm>
          </p:grpSpPr>
          <p:sp>
            <p:nvSpPr>
              <p:cNvPr id="50232" name="Line 47">
                <a:extLst>
                  <a:ext uri="{FF2B5EF4-FFF2-40B4-BE49-F238E27FC236}">
                    <a16:creationId xmlns:a16="http://schemas.microsoft.com/office/drawing/2014/main" id="{6902E4C4-D18F-93E1-B886-CB0B86500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2659"/>
                <a:ext cx="45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3" name="Line 48">
                <a:extLst>
                  <a:ext uri="{FF2B5EF4-FFF2-40B4-BE49-F238E27FC236}">
                    <a16:creationId xmlns:a16="http://schemas.microsoft.com/office/drawing/2014/main" id="{490D2D02-5CFE-A204-B806-19A22C57B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2659"/>
                <a:ext cx="0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4" name="Line 49">
                <a:extLst>
                  <a:ext uri="{FF2B5EF4-FFF2-40B4-BE49-F238E27FC236}">
                    <a16:creationId xmlns:a16="http://schemas.microsoft.com/office/drawing/2014/main" id="{369559C5-553C-DF7A-F889-4825707B9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8" y="3022"/>
                <a:ext cx="46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0228" name="Group 51">
              <a:extLst>
                <a:ext uri="{FF2B5EF4-FFF2-40B4-BE49-F238E27FC236}">
                  <a16:creationId xmlns:a16="http://schemas.microsoft.com/office/drawing/2014/main" id="{48B7B67A-1E53-418C-3BE7-159A1D7799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6" y="2659"/>
              <a:ext cx="91" cy="408"/>
              <a:chOff x="1973" y="2659"/>
              <a:chExt cx="91" cy="408"/>
            </a:xfrm>
          </p:grpSpPr>
          <p:sp>
            <p:nvSpPr>
              <p:cNvPr id="50229" name="Line 52">
                <a:extLst>
                  <a:ext uri="{FF2B5EF4-FFF2-40B4-BE49-F238E27FC236}">
                    <a16:creationId xmlns:a16="http://schemas.microsoft.com/office/drawing/2014/main" id="{3698CF8D-309D-9CC5-3820-7DA31B070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2659"/>
                <a:ext cx="45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0" name="Line 53">
                <a:extLst>
                  <a:ext uri="{FF2B5EF4-FFF2-40B4-BE49-F238E27FC236}">
                    <a16:creationId xmlns:a16="http://schemas.microsoft.com/office/drawing/2014/main" id="{7CEF7CC3-E418-577C-A1F5-38528CE9C7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2659"/>
                <a:ext cx="0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1" name="Line 54">
                <a:extLst>
                  <a:ext uri="{FF2B5EF4-FFF2-40B4-BE49-F238E27FC236}">
                    <a16:creationId xmlns:a16="http://schemas.microsoft.com/office/drawing/2014/main" id="{575C9BE0-3FF8-7C75-E6C2-CEEB14958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8" y="3022"/>
                <a:ext cx="46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grpSp>
        <p:nvGrpSpPr>
          <p:cNvPr id="50195" name="Group 84">
            <a:extLst>
              <a:ext uri="{FF2B5EF4-FFF2-40B4-BE49-F238E27FC236}">
                <a16:creationId xmlns:a16="http://schemas.microsoft.com/office/drawing/2014/main" id="{5B4D1BFB-AD01-61F0-8E6F-30672C2FAD34}"/>
              </a:ext>
            </a:extLst>
          </p:cNvPr>
          <p:cNvGrpSpPr>
            <a:grpSpLocks/>
          </p:cNvGrpSpPr>
          <p:nvPr/>
        </p:nvGrpSpPr>
        <p:grpSpPr bwMode="auto">
          <a:xfrm>
            <a:off x="7032626" y="4797425"/>
            <a:ext cx="3101975" cy="1944688"/>
            <a:chOff x="3470" y="3022"/>
            <a:chExt cx="1954" cy="1225"/>
          </a:xfrm>
        </p:grpSpPr>
        <p:sp>
          <p:nvSpPr>
            <p:cNvPr id="50200" name="Line 58">
              <a:extLst>
                <a:ext uri="{FF2B5EF4-FFF2-40B4-BE49-F238E27FC236}">
                  <a16:creationId xmlns:a16="http://schemas.microsoft.com/office/drawing/2014/main" id="{052B7D01-1061-F65B-A7E8-B0348B54E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3022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01" name="Rectangle 59">
              <a:extLst>
                <a:ext uri="{FF2B5EF4-FFF2-40B4-BE49-F238E27FC236}">
                  <a16:creationId xmlns:a16="http://schemas.microsoft.com/office/drawing/2014/main" id="{1B75A3E1-6F36-9399-62DC-871C98FEF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158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2" name="Rectangle 61">
              <a:extLst>
                <a:ext uri="{FF2B5EF4-FFF2-40B4-BE49-F238E27FC236}">
                  <a16:creationId xmlns:a16="http://schemas.microsoft.com/office/drawing/2014/main" id="{50ACF017-728A-EE6D-F576-DF3B8275A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4020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3" name="Rectangle 63">
              <a:extLst>
                <a:ext uri="{FF2B5EF4-FFF2-40B4-BE49-F238E27FC236}">
                  <a16:creationId xmlns:a16="http://schemas.microsoft.com/office/drawing/2014/main" id="{99D80747-BFB6-6C04-F206-1495C4B3B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4" name="Rectangle 64">
              <a:extLst>
                <a:ext uri="{FF2B5EF4-FFF2-40B4-BE49-F238E27FC236}">
                  <a16:creationId xmlns:a16="http://schemas.microsoft.com/office/drawing/2014/main" id="{E1A78FF0-00A2-33C2-093E-27DB3CD3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5" name="Rectangle 65">
              <a:extLst>
                <a:ext uri="{FF2B5EF4-FFF2-40B4-BE49-F238E27FC236}">
                  <a16:creationId xmlns:a16="http://schemas.microsoft.com/office/drawing/2014/main" id="{6DDDFF9E-37DE-CF18-78F9-6DC3651A5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6" name="Rectangle 66">
              <a:extLst>
                <a:ext uri="{FF2B5EF4-FFF2-40B4-BE49-F238E27FC236}">
                  <a16:creationId xmlns:a16="http://schemas.microsoft.com/office/drawing/2014/main" id="{0D14C0EC-1D9B-5E24-3DC7-84AA46E5D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50207" name="Group 67">
              <a:extLst>
                <a:ext uri="{FF2B5EF4-FFF2-40B4-BE49-F238E27FC236}">
                  <a16:creationId xmlns:a16="http://schemas.microsoft.com/office/drawing/2014/main" id="{EBCD9C24-58DE-03BB-EA32-5D3D64820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" y="3340"/>
              <a:ext cx="97" cy="635"/>
              <a:chOff x="3651" y="3203"/>
              <a:chExt cx="97" cy="635"/>
            </a:xfrm>
          </p:grpSpPr>
          <p:sp>
            <p:nvSpPr>
              <p:cNvPr id="50216" name="Line 68">
                <a:extLst>
                  <a:ext uri="{FF2B5EF4-FFF2-40B4-BE49-F238E27FC236}">
                    <a16:creationId xmlns:a16="http://schemas.microsoft.com/office/drawing/2014/main" id="{FBAB1E65-1A96-0CF3-8E04-5BBE78C51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7" name="Line 69">
                <a:extLst>
                  <a:ext uri="{FF2B5EF4-FFF2-40B4-BE49-F238E27FC236}">
                    <a16:creationId xmlns:a16="http://schemas.microsoft.com/office/drawing/2014/main" id="{D3BDAF7D-EFF4-4581-CE65-66F134601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8" name="Line 70">
                <a:extLst>
                  <a:ext uri="{FF2B5EF4-FFF2-40B4-BE49-F238E27FC236}">
                    <a16:creationId xmlns:a16="http://schemas.microsoft.com/office/drawing/2014/main" id="{713C822D-4518-DA70-5A1A-85E679A94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0208" name="Group 71">
              <a:extLst>
                <a:ext uri="{FF2B5EF4-FFF2-40B4-BE49-F238E27FC236}">
                  <a16:creationId xmlns:a16="http://schemas.microsoft.com/office/drawing/2014/main" id="{75E1DBB7-6E45-BE99-7750-B692A8811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1" y="3340"/>
              <a:ext cx="97" cy="635"/>
              <a:chOff x="3651" y="3203"/>
              <a:chExt cx="97" cy="635"/>
            </a:xfrm>
          </p:grpSpPr>
          <p:sp>
            <p:nvSpPr>
              <p:cNvPr id="50213" name="Line 72">
                <a:extLst>
                  <a:ext uri="{FF2B5EF4-FFF2-40B4-BE49-F238E27FC236}">
                    <a16:creationId xmlns:a16="http://schemas.microsoft.com/office/drawing/2014/main" id="{4B8868BF-3800-0C41-4E9E-8862CC75B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4" name="Line 73">
                <a:extLst>
                  <a:ext uri="{FF2B5EF4-FFF2-40B4-BE49-F238E27FC236}">
                    <a16:creationId xmlns:a16="http://schemas.microsoft.com/office/drawing/2014/main" id="{DFA42BFF-4209-167F-77F0-0DC339BAA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5" name="Line 74">
                <a:extLst>
                  <a:ext uri="{FF2B5EF4-FFF2-40B4-BE49-F238E27FC236}">
                    <a16:creationId xmlns:a16="http://schemas.microsoft.com/office/drawing/2014/main" id="{062F4384-12A7-3F1A-192A-4277EA735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50209" name="Rectangle 75">
              <a:extLst>
                <a:ext uri="{FF2B5EF4-FFF2-40B4-BE49-F238E27FC236}">
                  <a16:creationId xmlns:a16="http://schemas.microsoft.com/office/drawing/2014/main" id="{9A0232B8-A9B5-F89D-F24C-C52BE5FBD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3203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0" name="Rectangle 76">
              <a:extLst>
                <a:ext uri="{FF2B5EF4-FFF2-40B4-BE49-F238E27FC236}">
                  <a16:creationId xmlns:a16="http://schemas.microsoft.com/office/drawing/2014/main" id="{4B447FD5-9B1A-E8C0-75DD-5FC8E5648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3203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1" name="Rectangle 77">
              <a:extLst>
                <a:ext uri="{FF2B5EF4-FFF2-40B4-BE49-F238E27FC236}">
                  <a16:creationId xmlns:a16="http://schemas.microsoft.com/office/drawing/2014/main" id="{22F05F98-BE7A-7C4B-CD13-E98B34CE7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4065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2" name="Rectangle 78">
              <a:extLst>
                <a:ext uri="{FF2B5EF4-FFF2-40B4-BE49-F238E27FC236}">
                  <a16:creationId xmlns:a16="http://schemas.microsoft.com/office/drawing/2014/main" id="{9FCBAC26-8E48-46D4-F0DA-7F078EA9B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4065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sp>
        <p:nvSpPr>
          <p:cNvPr id="50196" name="Rectangle 26">
            <a:extLst>
              <a:ext uri="{FF2B5EF4-FFF2-40B4-BE49-F238E27FC236}">
                <a16:creationId xmlns:a16="http://schemas.microsoft.com/office/drawing/2014/main" id="{F572BDA4-4CF6-2960-3C98-5D1B5FE1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400" y="2427288"/>
            <a:ext cx="405892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</a:t>
            </a:r>
            <a:r>
              <a:rPr lang="es-ES" altLang="es-ES" sz="1400" b="1" dirty="0">
                <a:solidFill>
                  <a:srgbClr val="C00000"/>
                </a:solidFill>
              </a:rPr>
              <a:t>Uno de los apoyos será móvil y el otro fijo (articulado, empotrado)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s-ES" altLang="es-ES" sz="1400" dirty="0"/>
              <a:t>Los esfuerzos que se generan en cada uno de los lados no se transmiten al otro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s-ES" altLang="es-ES" sz="1400" dirty="0"/>
              <a:t> Holgura “e” permite el desplazamiento horizontal</a:t>
            </a:r>
          </a:p>
        </p:txBody>
      </p:sp>
      <p:pic>
        <p:nvPicPr>
          <p:cNvPr id="50197" name="Picture 81">
            <a:extLst>
              <a:ext uri="{FF2B5EF4-FFF2-40B4-BE49-F238E27FC236}">
                <a16:creationId xmlns:a16="http://schemas.microsoft.com/office/drawing/2014/main" id="{DC9D8596-7D07-B2EB-566C-564D1F56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05039"/>
            <a:ext cx="1873250" cy="105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8" name="Line 82">
            <a:extLst>
              <a:ext uri="{FF2B5EF4-FFF2-40B4-BE49-F238E27FC236}">
                <a16:creationId xmlns:a16="http://schemas.microsoft.com/office/drawing/2014/main" id="{D378E976-EAB3-CA0F-59C2-2CE702CA9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6" y="50133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99" name="Line 83">
            <a:extLst>
              <a:ext uri="{FF2B5EF4-FFF2-40B4-BE49-F238E27FC236}">
                <a16:creationId xmlns:a16="http://schemas.microsoft.com/office/drawing/2014/main" id="{34C975EE-9656-C272-8E9B-FF1CF3F5A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6" y="65976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979B25-9A5C-4FFB-325C-A216EEC40DD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D852E23-99B1-383A-8ABB-97EC971F0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7C3AB6A-54DC-E6C1-179F-6A3A4735182F}"/>
              </a:ext>
            </a:extLst>
          </p:cNvPr>
          <p:cNvSpPr/>
          <p:nvPr/>
        </p:nvSpPr>
        <p:spPr>
          <a:xfrm>
            <a:off x="7915434" y="4255929"/>
            <a:ext cx="1386523" cy="158496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CE052E9C-48B6-1C74-AE15-B040099BF78C}"/>
              </a:ext>
            </a:extLst>
          </p:cNvPr>
          <p:cNvSpPr/>
          <p:nvPr/>
        </p:nvSpPr>
        <p:spPr>
          <a:xfrm>
            <a:off x="10932160" y="4074160"/>
            <a:ext cx="934720" cy="3693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55C0-DB5E-BB00-1356-548C02D7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3">
            <a:extLst>
              <a:ext uri="{FF2B5EF4-FFF2-40B4-BE49-F238E27FC236}">
                <a16:creationId xmlns:a16="http://schemas.microsoft.com/office/drawing/2014/main" id="{09D94F61-B5F6-3FC9-EE8A-AE10B739D12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0181" name="Rectangle 6">
            <a:extLst>
              <a:ext uri="{FF2B5EF4-FFF2-40B4-BE49-F238E27FC236}">
                <a16:creationId xmlns:a16="http://schemas.microsoft.com/office/drawing/2014/main" id="{269840A4-B785-6412-EF7E-6CF5CFFF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0"/>
            <a:ext cx="8675687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0187" name="Text Box 5">
            <a:extLst>
              <a:ext uri="{FF2B5EF4-FFF2-40B4-BE49-F238E27FC236}">
                <a16:creationId xmlns:a16="http://schemas.microsoft.com/office/drawing/2014/main" id="{1F617C91-7FEE-CD9C-0F90-D10615A408B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581150" y="3197225"/>
            <a:ext cx="6669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1200">
                <a:solidFill>
                  <a:schemeClr val="bg2"/>
                </a:solidFill>
                <a:latin typeface="Tahoma" panose="020B0604030504040204" pitchFamily="34" charset="0"/>
              </a:rPr>
              <a:t>CONSTRUCCIÓN IV                                                                                </a:t>
            </a:r>
            <a:r>
              <a:rPr lang="es-ES" altLang="es-ES" sz="1200">
                <a:solidFill>
                  <a:schemeClr val="bg2"/>
                </a:solidFill>
              </a:rPr>
              <a:t>E.T.S.I.E</a:t>
            </a:r>
            <a:endParaRPr lang="es-ES" altLang="es-ES" sz="12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50190" name="Rectangle 2">
            <a:extLst>
              <a:ext uri="{FF2B5EF4-FFF2-40B4-BE49-F238E27FC236}">
                <a16:creationId xmlns:a16="http://schemas.microsoft.com/office/drawing/2014/main" id="{B7BB7F0E-FBF8-CAB7-870D-A81D8D5C8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50191" name="Rectangle 17">
            <a:extLst>
              <a:ext uri="{FF2B5EF4-FFF2-40B4-BE49-F238E27FC236}">
                <a16:creationId xmlns:a16="http://schemas.microsoft.com/office/drawing/2014/main" id="{1B7AB57C-7F0B-8E5A-1E9F-C7BB9DE1D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0192" name="Rectangle 18">
            <a:extLst>
              <a:ext uri="{FF2B5EF4-FFF2-40B4-BE49-F238E27FC236}">
                <a16:creationId xmlns:a16="http://schemas.microsoft.com/office/drawing/2014/main" id="{F814EEE1-68C7-9A78-E01B-4983F0A2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2038"/>
            <a:ext cx="5168916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PARALELAS a la dirección de forjado.</a:t>
            </a:r>
          </a:p>
        </p:txBody>
      </p:sp>
      <p:sp>
        <p:nvSpPr>
          <p:cNvPr id="50193" name="Rectangle 20">
            <a:extLst>
              <a:ext uri="{FF2B5EF4-FFF2-40B4-BE49-F238E27FC236}">
                <a16:creationId xmlns:a16="http://schemas.microsoft.com/office/drawing/2014/main" id="{AF0F2CC8-5645-93B9-11E5-FC223C9A9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718864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Único pilar</a:t>
            </a:r>
          </a:p>
        </p:txBody>
      </p:sp>
      <p:grpSp>
        <p:nvGrpSpPr>
          <p:cNvPr id="50194" name="Group 56">
            <a:extLst>
              <a:ext uri="{FF2B5EF4-FFF2-40B4-BE49-F238E27FC236}">
                <a16:creationId xmlns:a16="http://schemas.microsoft.com/office/drawing/2014/main" id="{CD0B6B28-AB0B-64FA-F63E-86E3D625EE7E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2349500"/>
            <a:ext cx="3673475" cy="4319588"/>
            <a:chOff x="476" y="1480"/>
            <a:chExt cx="2314" cy="2721"/>
          </a:xfrm>
        </p:grpSpPr>
        <p:pic>
          <p:nvPicPr>
            <p:cNvPr id="50219" name="Picture 28">
              <a:extLst>
                <a:ext uri="{FF2B5EF4-FFF2-40B4-BE49-F238E27FC236}">
                  <a16:creationId xmlns:a16="http://schemas.microsoft.com/office/drawing/2014/main" id="{3ED9024C-E268-C7D4-D895-C3354775F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480"/>
              <a:ext cx="2147" cy="2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220" name="Line 21">
              <a:extLst>
                <a:ext uri="{FF2B5EF4-FFF2-40B4-BE49-F238E27FC236}">
                  <a16:creationId xmlns:a16="http://schemas.microsoft.com/office/drawing/2014/main" id="{2F15F7F4-830C-3091-58E2-E4F98B140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888"/>
              <a:ext cx="0" cy="176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1" name="Line 22">
              <a:extLst>
                <a:ext uri="{FF2B5EF4-FFF2-40B4-BE49-F238E27FC236}">
                  <a16:creationId xmlns:a16="http://schemas.microsoft.com/office/drawing/2014/main" id="{18432959-2A3A-AB0F-1264-1EE7778DA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5" y="3611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2" name="Line 23">
              <a:extLst>
                <a:ext uri="{FF2B5EF4-FFF2-40B4-BE49-F238E27FC236}">
                  <a16:creationId xmlns:a16="http://schemas.microsoft.com/office/drawing/2014/main" id="{2687E2F5-FBE7-7335-5B33-37208720F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3611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23" name="Rectangle 24">
              <a:extLst>
                <a:ext uri="{FF2B5EF4-FFF2-40B4-BE49-F238E27FC236}">
                  <a16:creationId xmlns:a16="http://schemas.microsoft.com/office/drawing/2014/main" id="{F4C1E1C4-56F2-A70C-926A-9DC988345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430"/>
              <a:ext cx="4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1200" b="1"/>
                <a:t>≤ 40 m</a:t>
              </a:r>
            </a:p>
          </p:txBody>
        </p:sp>
        <p:sp>
          <p:nvSpPr>
            <p:cNvPr id="50224" name="Rectangle 25">
              <a:extLst>
                <a:ext uri="{FF2B5EF4-FFF2-40B4-BE49-F238E27FC236}">
                  <a16:creationId xmlns:a16="http://schemas.microsoft.com/office/drawing/2014/main" id="{B3A10724-15F7-CDC1-1B1E-D2C28FB17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430"/>
              <a:ext cx="4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1200" b="1"/>
                <a:t>≤ 40 m</a:t>
              </a:r>
            </a:p>
          </p:txBody>
        </p:sp>
        <p:sp>
          <p:nvSpPr>
            <p:cNvPr id="50225" name="Rectangle 29">
              <a:extLst>
                <a:ext uri="{FF2B5EF4-FFF2-40B4-BE49-F238E27FC236}">
                  <a16:creationId xmlns:a16="http://schemas.microsoft.com/office/drawing/2014/main" id="{DED4432C-3775-C9B4-77D6-D61922079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160"/>
              <a:ext cx="42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900"/>
                <a:t>apoyo fijo</a:t>
              </a:r>
            </a:p>
          </p:txBody>
        </p:sp>
        <p:sp>
          <p:nvSpPr>
            <p:cNvPr id="50226" name="Rectangle 30">
              <a:extLst>
                <a:ext uri="{FF2B5EF4-FFF2-40B4-BE49-F238E27FC236}">
                  <a16:creationId xmlns:a16="http://schemas.microsoft.com/office/drawing/2014/main" id="{2444CCFD-8F24-7ECD-403E-2204C2F1F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160"/>
              <a:ext cx="5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 sz="900"/>
                <a:t>apoyo móvil</a:t>
              </a:r>
            </a:p>
          </p:txBody>
        </p:sp>
        <p:grpSp>
          <p:nvGrpSpPr>
            <p:cNvPr id="50227" name="Group 50">
              <a:extLst>
                <a:ext uri="{FF2B5EF4-FFF2-40B4-BE49-F238E27FC236}">
                  <a16:creationId xmlns:a16="http://schemas.microsoft.com/office/drawing/2014/main" id="{317892AE-0EF5-B875-54B5-97D4A010B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2659"/>
              <a:ext cx="91" cy="408"/>
              <a:chOff x="1973" y="2659"/>
              <a:chExt cx="91" cy="408"/>
            </a:xfrm>
          </p:grpSpPr>
          <p:sp>
            <p:nvSpPr>
              <p:cNvPr id="50232" name="Line 47">
                <a:extLst>
                  <a:ext uri="{FF2B5EF4-FFF2-40B4-BE49-F238E27FC236}">
                    <a16:creationId xmlns:a16="http://schemas.microsoft.com/office/drawing/2014/main" id="{78C3907B-FFCD-76C3-96A4-56561F53A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2659"/>
                <a:ext cx="45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3" name="Line 48">
                <a:extLst>
                  <a:ext uri="{FF2B5EF4-FFF2-40B4-BE49-F238E27FC236}">
                    <a16:creationId xmlns:a16="http://schemas.microsoft.com/office/drawing/2014/main" id="{DEA3DABD-2C6A-1EF1-F71F-3D917B580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2659"/>
                <a:ext cx="0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4" name="Line 49">
                <a:extLst>
                  <a:ext uri="{FF2B5EF4-FFF2-40B4-BE49-F238E27FC236}">
                    <a16:creationId xmlns:a16="http://schemas.microsoft.com/office/drawing/2014/main" id="{F728E57C-7029-4829-5EE7-3332B7D35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8" y="3022"/>
                <a:ext cx="46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0228" name="Group 51">
              <a:extLst>
                <a:ext uri="{FF2B5EF4-FFF2-40B4-BE49-F238E27FC236}">
                  <a16:creationId xmlns:a16="http://schemas.microsoft.com/office/drawing/2014/main" id="{E5C2E0C8-D2A8-0F3A-D212-7F455A1E01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6" y="2659"/>
              <a:ext cx="91" cy="408"/>
              <a:chOff x="1973" y="2659"/>
              <a:chExt cx="91" cy="408"/>
            </a:xfrm>
          </p:grpSpPr>
          <p:sp>
            <p:nvSpPr>
              <p:cNvPr id="50229" name="Line 52">
                <a:extLst>
                  <a:ext uri="{FF2B5EF4-FFF2-40B4-BE49-F238E27FC236}">
                    <a16:creationId xmlns:a16="http://schemas.microsoft.com/office/drawing/2014/main" id="{C6757AFE-3224-6DD6-F93B-14D0FB7E47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2659"/>
                <a:ext cx="45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0" name="Line 53">
                <a:extLst>
                  <a:ext uri="{FF2B5EF4-FFF2-40B4-BE49-F238E27FC236}">
                    <a16:creationId xmlns:a16="http://schemas.microsoft.com/office/drawing/2014/main" id="{B85D2B0C-7185-99F3-B608-5E4EC76C3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2659"/>
                <a:ext cx="0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31" name="Line 54">
                <a:extLst>
                  <a:ext uri="{FF2B5EF4-FFF2-40B4-BE49-F238E27FC236}">
                    <a16:creationId xmlns:a16="http://schemas.microsoft.com/office/drawing/2014/main" id="{91A984D0-9F4F-5515-9D01-6A74B502E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8" y="3022"/>
                <a:ext cx="46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grpSp>
        <p:nvGrpSpPr>
          <p:cNvPr id="50195" name="Group 84">
            <a:extLst>
              <a:ext uri="{FF2B5EF4-FFF2-40B4-BE49-F238E27FC236}">
                <a16:creationId xmlns:a16="http://schemas.microsoft.com/office/drawing/2014/main" id="{88C709AD-1151-067E-0D55-1B83D82EA91F}"/>
              </a:ext>
            </a:extLst>
          </p:cNvPr>
          <p:cNvGrpSpPr>
            <a:grpSpLocks/>
          </p:cNvGrpSpPr>
          <p:nvPr/>
        </p:nvGrpSpPr>
        <p:grpSpPr bwMode="auto">
          <a:xfrm>
            <a:off x="7032626" y="4797425"/>
            <a:ext cx="3101975" cy="1944688"/>
            <a:chOff x="3470" y="3022"/>
            <a:chExt cx="1954" cy="1225"/>
          </a:xfrm>
        </p:grpSpPr>
        <p:sp>
          <p:nvSpPr>
            <p:cNvPr id="50200" name="Line 58">
              <a:extLst>
                <a:ext uri="{FF2B5EF4-FFF2-40B4-BE49-F238E27FC236}">
                  <a16:creationId xmlns:a16="http://schemas.microsoft.com/office/drawing/2014/main" id="{F8F52505-3B60-C96E-5843-F14783F3B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3022"/>
              <a:ext cx="0" cy="122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201" name="Rectangle 59">
              <a:extLst>
                <a:ext uri="{FF2B5EF4-FFF2-40B4-BE49-F238E27FC236}">
                  <a16:creationId xmlns:a16="http://schemas.microsoft.com/office/drawing/2014/main" id="{F115C9C6-0978-4CC7-0403-45A6A612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158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2" name="Rectangle 61">
              <a:extLst>
                <a:ext uri="{FF2B5EF4-FFF2-40B4-BE49-F238E27FC236}">
                  <a16:creationId xmlns:a16="http://schemas.microsoft.com/office/drawing/2014/main" id="{9BD22CDA-1C85-B45A-A80B-76580E606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4020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3" name="Rectangle 63">
              <a:extLst>
                <a:ext uri="{FF2B5EF4-FFF2-40B4-BE49-F238E27FC236}">
                  <a16:creationId xmlns:a16="http://schemas.microsoft.com/office/drawing/2014/main" id="{414B4574-C815-59D9-F9B0-EAE00A5E8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4" name="Rectangle 64">
              <a:extLst>
                <a:ext uri="{FF2B5EF4-FFF2-40B4-BE49-F238E27FC236}">
                  <a16:creationId xmlns:a16="http://schemas.microsoft.com/office/drawing/2014/main" id="{DE96C446-2D26-926F-8464-33FC259A1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5" name="Rectangle 65">
              <a:extLst>
                <a:ext uri="{FF2B5EF4-FFF2-40B4-BE49-F238E27FC236}">
                  <a16:creationId xmlns:a16="http://schemas.microsoft.com/office/drawing/2014/main" id="{7F3C1925-51FA-0568-1DF8-241DA8EAA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3158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06" name="Rectangle 66">
              <a:extLst>
                <a:ext uri="{FF2B5EF4-FFF2-40B4-BE49-F238E27FC236}">
                  <a16:creationId xmlns:a16="http://schemas.microsoft.com/office/drawing/2014/main" id="{F281EBDE-D0ED-434E-611D-DC74B470E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4020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grpSp>
          <p:nvGrpSpPr>
            <p:cNvPr id="50207" name="Group 67">
              <a:extLst>
                <a:ext uri="{FF2B5EF4-FFF2-40B4-BE49-F238E27FC236}">
                  <a16:creationId xmlns:a16="http://schemas.microsoft.com/office/drawing/2014/main" id="{D2CE8399-6D9C-7C5E-F682-6ABC14FC1E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" y="3340"/>
              <a:ext cx="97" cy="635"/>
              <a:chOff x="3651" y="3203"/>
              <a:chExt cx="97" cy="635"/>
            </a:xfrm>
          </p:grpSpPr>
          <p:sp>
            <p:nvSpPr>
              <p:cNvPr id="50216" name="Line 68">
                <a:extLst>
                  <a:ext uri="{FF2B5EF4-FFF2-40B4-BE49-F238E27FC236}">
                    <a16:creationId xmlns:a16="http://schemas.microsoft.com/office/drawing/2014/main" id="{9AB8200A-85A3-CF62-0F3A-611ABBB67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7" name="Line 69">
                <a:extLst>
                  <a:ext uri="{FF2B5EF4-FFF2-40B4-BE49-F238E27FC236}">
                    <a16:creationId xmlns:a16="http://schemas.microsoft.com/office/drawing/2014/main" id="{CF5BFF29-D2FC-0DB9-08DF-B4A79D821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8" name="Line 70">
                <a:extLst>
                  <a:ext uri="{FF2B5EF4-FFF2-40B4-BE49-F238E27FC236}">
                    <a16:creationId xmlns:a16="http://schemas.microsoft.com/office/drawing/2014/main" id="{DFFB9DB6-86E7-A829-B572-524EE1329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0208" name="Group 71">
              <a:extLst>
                <a:ext uri="{FF2B5EF4-FFF2-40B4-BE49-F238E27FC236}">
                  <a16:creationId xmlns:a16="http://schemas.microsoft.com/office/drawing/2014/main" id="{BDA7A47D-1189-52A1-EF3D-7121EBEE0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1" y="3340"/>
              <a:ext cx="97" cy="635"/>
              <a:chOff x="3651" y="3203"/>
              <a:chExt cx="97" cy="635"/>
            </a:xfrm>
          </p:grpSpPr>
          <p:sp>
            <p:nvSpPr>
              <p:cNvPr id="50213" name="Line 72">
                <a:extLst>
                  <a:ext uri="{FF2B5EF4-FFF2-40B4-BE49-F238E27FC236}">
                    <a16:creationId xmlns:a16="http://schemas.microsoft.com/office/drawing/2014/main" id="{D00C092E-59C4-3F36-7B8D-D33135DA3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203"/>
                <a:ext cx="45" cy="9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4" name="Line 73">
                <a:extLst>
                  <a:ext uri="{FF2B5EF4-FFF2-40B4-BE49-F238E27FC236}">
                    <a16:creationId xmlns:a16="http://schemas.microsoft.com/office/drawing/2014/main" id="{26B93832-AA8B-1EE4-614F-D6C52A00C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03"/>
                <a:ext cx="0" cy="63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0215" name="Line 74">
                <a:extLst>
                  <a:ext uri="{FF2B5EF4-FFF2-40B4-BE49-F238E27FC236}">
                    <a16:creationId xmlns:a16="http://schemas.microsoft.com/office/drawing/2014/main" id="{96A5830B-C350-4437-1325-193A8373E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748"/>
                <a:ext cx="52" cy="9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50209" name="Rectangle 75">
              <a:extLst>
                <a:ext uri="{FF2B5EF4-FFF2-40B4-BE49-F238E27FC236}">
                  <a16:creationId xmlns:a16="http://schemas.microsoft.com/office/drawing/2014/main" id="{893A3BCB-6E63-7142-18A7-7115F7173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3203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0" name="Rectangle 76">
              <a:extLst>
                <a:ext uri="{FF2B5EF4-FFF2-40B4-BE49-F238E27FC236}">
                  <a16:creationId xmlns:a16="http://schemas.microsoft.com/office/drawing/2014/main" id="{572B231B-B3C5-879E-EEB2-D83828B7C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3203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1" name="Rectangle 77">
              <a:extLst>
                <a:ext uri="{FF2B5EF4-FFF2-40B4-BE49-F238E27FC236}">
                  <a16:creationId xmlns:a16="http://schemas.microsoft.com/office/drawing/2014/main" id="{8271DACF-6C33-4CE0-C630-98F229CD1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4065"/>
              <a:ext cx="726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0212" name="Rectangle 78">
              <a:extLst>
                <a:ext uri="{FF2B5EF4-FFF2-40B4-BE49-F238E27FC236}">
                  <a16:creationId xmlns:a16="http://schemas.microsoft.com/office/drawing/2014/main" id="{79BB64FA-F4DA-A85C-127C-29A42E9B0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4065"/>
              <a:ext cx="771" cy="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pic>
        <p:nvPicPr>
          <p:cNvPr id="50197" name="Picture 81">
            <a:extLst>
              <a:ext uri="{FF2B5EF4-FFF2-40B4-BE49-F238E27FC236}">
                <a16:creationId xmlns:a16="http://schemas.microsoft.com/office/drawing/2014/main" id="{57CA816E-9896-8A3C-F3A2-66D9479A7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05039"/>
            <a:ext cx="1873250" cy="105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8" name="Line 82">
            <a:extLst>
              <a:ext uri="{FF2B5EF4-FFF2-40B4-BE49-F238E27FC236}">
                <a16:creationId xmlns:a16="http://schemas.microsoft.com/office/drawing/2014/main" id="{E786ED0C-BBB2-2DCF-2D98-F79838DC7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6" y="50133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0199" name="Line 83">
            <a:extLst>
              <a:ext uri="{FF2B5EF4-FFF2-40B4-BE49-F238E27FC236}">
                <a16:creationId xmlns:a16="http://schemas.microsoft.com/office/drawing/2014/main" id="{FA624DEB-A9FF-EC57-B7C6-DC0E261D1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6" y="65976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1A5EA8C-5372-461E-9E21-30A2B8A2F9E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1613954-FAA3-E734-1D2B-10BD8F85F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9758FC8-881F-E844-DBC8-51910EC62AB4}"/>
              </a:ext>
            </a:extLst>
          </p:cNvPr>
          <p:cNvSpPr/>
          <p:nvPr/>
        </p:nvSpPr>
        <p:spPr>
          <a:xfrm>
            <a:off x="7915434" y="4255929"/>
            <a:ext cx="1386523" cy="158496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B04115-FEA0-B7B6-017F-1E1087B5D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815" y="1257582"/>
            <a:ext cx="8659672" cy="55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70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>
            <a:extLst>
              <a:ext uri="{FF2B5EF4-FFF2-40B4-BE49-F238E27FC236}">
                <a16:creationId xmlns:a16="http://schemas.microsoft.com/office/drawing/2014/main" id="{6ADD99D7-249F-FE57-CCD2-1C7E2E8B67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1211" name="Text Box 5">
            <a:extLst>
              <a:ext uri="{FF2B5EF4-FFF2-40B4-BE49-F238E27FC236}">
                <a16:creationId xmlns:a16="http://schemas.microsoft.com/office/drawing/2014/main" id="{B7423C86-F531-0F87-0D47-3DD7853E81F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581150" y="3197225"/>
            <a:ext cx="66690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1200">
                <a:solidFill>
                  <a:schemeClr val="bg2"/>
                </a:solidFill>
                <a:latin typeface="Tahoma" panose="020B0604030504040204" pitchFamily="34" charset="0"/>
              </a:rPr>
              <a:t>CONSTRUCCIÓN IV                                                                                </a:t>
            </a:r>
            <a:r>
              <a:rPr lang="es-ES" altLang="es-ES" sz="1200">
                <a:solidFill>
                  <a:schemeClr val="bg2"/>
                </a:solidFill>
              </a:rPr>
              <a:t>E.T.S.I.E</a:t>
            </a:r>
            <a:endParaRPr lang="es-ES" altLang="es-ES" sz="12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51214" name="Rectangle 2">
            <a:extLst>
              <a:ext uri="{FF2B5EF4-FFF2-40B4-BE49-F238E27FC236}">
                <a16:creationId xmlns:a16="http://schemas.microsoft.com/office/drawing/2014/main" id="{1E1D8899-D92F-487B-51C1-787C0B162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51215" name="Rectangle 17">
            <a:extLst>
              <a:ext uri="{FF2B5EF4-FFF2-40B4-BE49-F238E27FC236}">
                <a16:creationId xmlns:a16="http://schemas.microsoft.com/office/drawing/2014/main" id="{B18DE335-0E44-6219-4441-451B39B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1216" name="Rectangle 18">
            <a:extLst>
              <a:ext uri="{FF2B5EF4-FFF2-40B4-BE49-F238E27FC236}">
                <a16:creationId xmlns:a16="http://schemas.microsoft.com/office/drawing/2014/main" id="{B12EA594-6501-BFB4-8BAF-ED04B25B1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8180"/>
            <a:ext cx="6070893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51217" name="Rectangle 19">
            <a:extLst>
              <a:ext uri="{FF2B5EF4-FFF2-40B4-BE49-F238E27FC236}">
                <a16:creationId xmlns:a16="http://schemas.microsoft.com/office/drawing/2014/main" id="{F31783C1-BA18-E473-2C47-403E1DC84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85245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Doble pilar</a:t>
            </a:r>
          </a:p>
        </p:txBody>
      </p:sp>
      <p:sp>
        <p:nvSpPr>
          <p:cNvPr id="51218" name="Rectangle 20">
            <a:extLst>
              <a:ext uri="{FF2B5EF4-FFF2-40B4-BE49-F238E27FC236}">
                <a16:creationId xmlns:a16="http://schemas.microsoft.com/office/drawing/2014/main" id="{7A2C9AFA-FDA6-AC22-137C-59FF0F21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195" y="1605057"/>
            <a:ext cx="247300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s-ES" altLang="es-ES" sz="1400" dirty="0"/>
              <a:t>Doble viga, separación mínima entre soportes 5 cm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s-ES" altLang="es-ES" sz="1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 - </a:t>
            </a:r>
            <a:r>
              <a:rPr lang="es-ES" altLang="es-ES" sz="1400" b="1" dirty="0">
                <a:solidFill>
                  <a:srgbClr val="C00000"/>
                </a:solidFill>
              </a:rPr>
              <a:t>Los nudos podrán ser de cualquier tipo: (rígidos, </a:t>
            </a:r>
            <a:r>
              <a:rPr lang="es-ES" altLang="es-ES" sz="1400" b="1" dirty="0" err="1">
                <a:solidFill>
                  <a:srgbClr val="C00000"/>
                </a:solidFill>
              </a:rPr>
              <a:t>semirrigidos</a:t>
            </a:r>
            <a:r>
              <a:rPr lang="es-ES" altLang="es-ES" sz="1400" b="1" dirty="0">
                <a:solidFill>
                  <a:srgbClr val="C00000"/>
                </a:solidFill>
              </a:rPr>
              <a:t>, articulados…)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40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0FB90A8-ABB2-6D9C-AA67-BB3A7BD96C4F}"/>
              </a:ext>
            </a:extLst>
          </p:cNvPr>
          <p:cNvGrpSpPr/>
          <p:nvPr/>
        </p:nvGrpSpPr>
        <p:grpSpPr>
          <a:xfrm>
            <a:off x="430531" y="1435106"/>
            <a:ext cx="1655763" cy="2159000"/>
            <a:chOff x="2279651" y="2133600"/>
            <a:chExt cx="1655763" cy="2159000"/>
          </a:xfrm>
        </p:grpSpPr>
        <p:pic>
          <p:nvPicPr>
            <p:cNvPr id="51219" name="Picture 21">
              <a:extLst>
                <a:ext uri="{FF2B5EF4-FFF2-40B4-BE49-F238E27FC236}">
                  <a16:creationId xmlns:a16="http://schemas.microsoft.com/office/drawing/2014/main" id="{8FFC01C6-656B-BEAD-6193-B9D1DCFADD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9651" y="2276476"/>
              <a:ext cx="1655763" cy="1387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20" name="Line 22">
              <a:extLst>
                <a:ext uri="{FF2B5EF4-FFF2-40B4-BE49-F238E27FC236}">
                  <a16:creationId xmlns:a16="http://schemas.microsoft.com/office/drawing/2014/main" id="{EFB26601-F2D9-E153-D6F7-F2BAB5C3A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2133600"/>
              <a:ext cx="0" cy="21590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0D4EA0FC-4616-37B9-8F63-6E52A6FCE2D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2661744-FC14-07BE-FD1E-BF0A709C3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A5132EA-3DFE-9094-C98F-8025076DDC84}"/>
              </a:ext>
            </a:extLst>
          </p:cNvPr>
          <p:cNvGrpSpPr/>
          <p:nvPr/>
        </p:nvGrpSpPr>
        <p:grpSpPr>
          <a:xfrm>
            <a:off x="321788" y="3510660"/>
            <a:ext cx="3529012" cy="2649569"/>
            <a:chOff x="4008438" y="3697257"/>
            <a:chExt cx="3529012" cy="2649569"/>
          </a:xfrm>
        </p:grpSpPr>
        <p:sp>
          <p:nvSpPr>
            <p:cNvPr id="51221" name="Line 40">
              <a:extLst>
                <a:ext uri="{FF2B5EF4-FFF2-40B4-BE49-F238E27FC236}">
                  <a16:creationId xmlns:a16="http://schemas.microsoft.com/office/drawing/2014/main" id="{40C4277A-0684-B213-07B8-3D921F3E6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8663" y="4114801"/>
              <a:ext cx="0" cy="22320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A4317CE-0F63-E57F-0874-FB95B1886F69}"/>
                </a:ext>
              </a:extLst>
            </p:cNvPr>
            <p:cNvGrpSpPr/>
            <p:nvPr/>
          </p:nvGrpSpPr>
          <p:grpSpPr>
            <a:xfrm>
              <a:off x="4008438" y="3697257"/>
              <a:ext cx="3529012" cy="2505106"/>
              <a:chOff x="4008438" y="3697257"/>
              <a:chExt cx="3529012" cy="2505106"/>
            </a:xfrm>
          </p:grpSpPr>
          <p:grpSp>
            <p:nvGrpSpPr>
              <p:cNvPr id="51222" name="Group 44">
                <a:extLst>
                  <a:ext uri="{FF2B5EF4-FFF2-40B4-BE49-F238E27FC236}">
                    <a16:creationId xmlns:a16="http://schemas.microsoft.com/office/drawing/2014/main" id="{15ED34AE-106A-DA38-AB09-34FE9100F6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8438" y="4437063"/>
                <a:ext cx="3529012" cy="1765300"/>
                <a:chOff x="567" y="2931"/>
                <a:chExt cx="1996" cy="998"/>
              </a:xfrm>
            </p:grpSpPr>
            <p:sp>
              <p:nvSpPr>
                <p:cNvPr id="51223" name="Rectangle 24">
                  <a:extLst>
                    <a:ext uri="{FF2B5EF4-FFF2-40B4-BE49-F238E27FC236}">
                      <a16:creationId xmlns:a16="http://schemas.microsoft.com/office/drawing/2014/main" id="{D4517E93-5EF4-7D51-479A-789210222E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9" y="2931"/>
                  <a:ext cx="136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4" name="Rectangle 25">
                  <a:extLst>
                    <a:ext uri="{FF2B5EF4-FFF2-40B4-BE49-F238E27FC236}">
                      <a16:creationId xmlns:a16="http://schemas.microsoft.com/office/drawing/2014/main" id="{480F9683-2FBE-53C7-3CFB-DD6D56CBE5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9" y="3793"/>
                  <a:ext cx="136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5" name="Rectangle 26">
                  <a:extLst>
                    <a:ext uri="{FF2B5EF4-FFF2-40B4-BE49-F238E27FC236}">
                      <a16:creationId xmlns:a16="http://schemas.microsoft.com/office/drawing/2014/main" id="{AE9E1695-AE8A-46AF-2B02-9BBE8188A9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6" y="2931"/>
                  <a:ext cx="137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6" name="Rectangle 27">
                  <a:extLst>
                    <a:ext uri="{FF2B5EF4-FFF2-40B4-BE49-F238E27FC236}">
                      <a16:creationId xmlns:a16="http://schemas.microsoft.com/office/drawing/2014/main" id="{08ED49B2-BAE8-AC57-F05A-3BA5322DF0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5" y="3793"/>
                  <a:ext cx="137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7" name="Rectangle 28">
                  <a:extLst>
                    <a:ext uri="{FF2B5EF4-FFF2-40B4-BE49-F238E27FC236}">
                      <a16:creationId xmlns:a16="http://schemas.microsoft.com/office/drawing/2014/main" id="{85ABFFFE-93D1-C087-837F-125E51D415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7" y="2931"/>
                  <a:ext cx="137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8" name="Rectangle 29">
                  <a:extLst>
                    <a:ext uri="{FF2B5EF4-FFF2-40B4-BE49-F238E27FC236}">
                      <a16:creationId xmlns:a16="http://schemas.microsoft.com/office/drawing/2014/main" id="{234FB194-4251-B68C-607B-BD32E76212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7" y="3793"/>
                  <a:ext cx="137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29" name="Line 30">
                  <a:extLst>
                    <a:ext uri="{FF2B5EF4-FFF2-40B4-BE49-F238E27FC236}">
                      <a16:creationId xmlns:a16="http://schemas.microsoft.com/office/drawing/2014/main" id="{C9B9F939-4934-445E-EDFF-8FC688DD2A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90" y="3431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0" name="Line 31">
                  <a:extLst>
                    <a:ext uri="{FF2B5EF4-FFF2-40B4-BE49-F238E27FC236}">
                      <a16:creationId xmlns:a16="http://schemas.microsoft.com/office/drawing/2014/main" id="{2EEEB79F-1004-79B0-7085-50251D7DA4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90" y="3385"/>
                  <a:ext cx="91" cy="4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1" name="Line 32">
                  <a:extLst>
                    <a:ext uri="{FF2B5EF4-FFF2-40B4-BE49-F238E27FC236}">
                      <a16:creationId xmlns:a16="http://schemas.microsoft.com/office/drawing/2014/main" id="{64838A3C-531B-66A8-A24C-FA908BFE69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89" y="3431"/>
                  <a:ext cx="91" cy="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2" name="Line 33">
                  <a:extLst>
                    <a:ext uri="{FF2B5EF4-FFF2-40B4-BE49-F238E27FC236}">
                      <a16:creationId xmlns:a16="http://schemas.microsoft.com/office/drawing/2014/main" id="{7099D8D6-B688-663D-E608-F28F92BCF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3" y="3431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3" name="Line 34">
                  <a:extLst>
                    <a:ext uri="{FF2B5EF4-FFF2-40B4-BE49-F238E27FC236}">
                      <a16:creationId xmlns:a16="http://schemas.microsoft.com/office/drawing/2014/main" id="{71B93C6E-1A27-78E0-BD9E-4CD6BB3AD7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3" y="3385"/>
                  <a:ext cx="91" cy="4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4" name="Line 35">
                  <a:extLst>
                    <a:ext uri="{FF2B5EF4-FFF2-40B4-BE49-F238E27FC236}">
                      <a16:creationId xmlns:a16="http://schemas.microsoft.com/office/drawing/2014/main" id="{5D212A79-72C1-3FF7-841D-5C767710F1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92" y="3431"/>
                  <a:ext cx="91" cy="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51235" name="Rectangle 36">
                  <a:extLst>
                    <a:ext uri="{FF2B5EF4-FFF2-40B4-BE49-F238E27FC236}">
                      <a16:creationId xmlns:a16="http://schemas.microsoft.com/office/drawing/2014/main" id="{67AFA1AA-5BBC-75ED-B6C2-86E659BE0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3068"/>
                  <a:ext cx="45" cy="72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36" name="Rectangle 37">
                  <a:extLst>
                    <a:ext uri="{FF2B5EF4-FFF2-40B4-BE49-F238E27FC236}">
                      <a16:creationId xmlns:a16="http://schemas.microsoft.com/office/drawing/2014/main" id="{D4D1D5BC-FDC6-EF4A-2F55-8890F4991E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4" y="3068"/>
                  <a:ext cx="45" cy="72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37" name="Rectangle 38">
                  <a:extLst>
                    <a:ext uri="{FF2B5EF4-FFF2-40B4-BE49-F238E27FC236}">
                      <a16:creationId xmlns:a16="http://schemas.microsoft.com/office/drawing/2014/main" id="{37643BA2-0AA6-24A3-EE51-37397BD6C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5" y="3067"/>
                  <a:ext cx="45" cy="72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38" name="Rectangle 39">
                  <a:extLst>
                    <a:ext uri="{FF2B5EF4-FFF2-40B4-BE49-F238E27FC236}">
                      <a16:creationId xmlns:a16="http://schemas.microsoft.com/office/drawing/2014/main" id="{9F964B35-9116-DB18-C0A1-084F646157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1" y="3068"/>
                  <a:ext cx="45" cy="72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39" name="Rectangle 41">
                  <a:extLst>
                    <a:ext uri="{FF2B5EF4-FFF2-40B4-BE49-F238E27FC236}">
                      <a16:creationId xmlns:a16="http://schemas.microsoft.com/office/drawing/2014/main" id="{B264BC89-6CE0-13B4-4650-58321F47EB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0" y="2931"/>
                  <a:ext cx="136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40" name="Rectangle 42">
                  <a:extLst>
                    <a:ext uri="{FF2B5EF4-FFF2-40B4-BE49-F238E27FC236}">
                      <a16:creationId xmlns:a16="http://schemas.microsoft.com/office/drawing/2014/main" id="{9508050A-87E7-5085-8F00-75631EA8AB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0" y="2931"/>
                  <a:ext cx="136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  <p:sp>
              <p:nvSpPr>
                <p:cNvPr id="51241" name="Rectangle 43">
                  <a:extLst>
                    <a:ext uri="{FF2B5EF4-FFF2-40B4-BE49-F238E27FC236}">
                      <a16:creationId xmlns:a16="http://schemas.microsoft.com/office/drawing/2014/main" id="{E98F2EBB-C02F-A707-376E-F75D1540B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0" y="3793"/>
                  <a:ext cx="136" cy="136"/>
                </a:xfrm>
                <a:prstGeom prst="rect">
                  <a:avLst/>
                </a:prstGeom>
                <a:solidFill>
                  <a:srgbClr val="CC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s-ES" altLang="es-ES" sz="1800"/>
                </a:p>
              </p:txBody>
            </p:sp>
          </p:grp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0F291911-F95C-B693-0A6A-475299DDB006}"/>
                  </a:ext>
                </a:extLst>
              </p:cNvPr>
              <p:cNvSpPr/>
              <p:nvPr/>
            </p:nvSpPr>
            <p:spPr>
              <a:xfrm>
                <a:off x="5152103" y="3697257"/>
                <a:ext cx="1386523" cy="158496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8D9C4762-9C12-F478-D1A6-F6FAE0F0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07" y="1605057"/>
            <a:ext cx="7300593" cy="47476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>
            <a:extLst>
              <a:ext uri="{FF2B5EF4-FFF2-40B4-BE49-F238E27FC236}">
                <a16:creationId xmlns:a16="http://schemas.microsoft.com/office/drawing/2014/main" id="{4ECD8878-6305-6199-90D5-172A362C051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2239" name="Rectangle 17">
            <a:extLst>
              <a:ext uri="{FF2B5EF4-FFF2-40B4-BE49-F238E27FC236}">
                <a16:creationId xmlns:a16="http://schemas.microsoft.com/office/drawing/2014/main" id="{631ACD89-339A-86D6-A1FC-A7D60A319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0" name="Rectangle 18">
            <a:extLst>
              <a:ext uri="{FF2B5EF4-FFF2-40B4-BE49-F238E27FC236}">
                <a16:creationId xmlns:a16="http://schemas.microsoft.com/office/drawing/2014/main" id="{434FADDB-E0B1-A8E7-189A-FFAE7A97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543" y="731890"/>
            <a:ext cx="6070893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52241" name="Rectangle 19">
            <a:extLst>
              <a:ext uri="{FF2B5EF4-FFF2-40B4-BE49-F238E27FC236}">
                <a16:creationId xmlns:a16="http://schemas.microsoft.com/office/drawing/2014/main" id="{540CE606-6726-C6BA-DFE8-33AA773B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350" y="758034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/>
              <a:t>Único pilar</a:t>
            </a:r>
          </a:p>
        </p:txBody>
      </p:sp>
      <p:sp>
        <p:nvSpPr>
          <p:cNvPr id="52242" name="Rectangle 20">
            <a:extLst>
              <a:ext uri="{FF2B5EF4-FFF2-40B4-BE49-F238E27FC236}">
                <a16:creationId xmlns:a16="http://schemas.microsoft.com/office/drawing/2014/main" id="{B076D0CD-244F-14AC-A0E3-12B695FF0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20938"/>
            <a:ext cx="5545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/>
              <a:t>- Doble viga: Se duplican las vigas/carreras y se dispone una de ellas con apoyo deslizante en su unión al soporte</a:t>
            </a:r>
          </a:p>
        </p:txBody>
      </p:sp>
      <p:pic>
        <p:nvPicPr>
          <p:cNvPr id="52243" name="Picture 85">
            <a:extLst>
              <a:ext uri="{FF2B5EF4-FFF2-40B4-BE49-F238E27FC236}">
                <a16:creationId xmlns:a16="http://schemas.microsoft.com/office/drawing/2014/main" id="{6FC97BED-3C7A-3481-60FC-87285A3FC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276476"/>
            <a:ext cx="18002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4" name="Line 86">
            <a:extLst>
              <a:ext uri="{FF2B5EF4-FFF2-40B4-BE49-F238E27FC236}">
                <a16:creationId xmlns:a16="http://schemas.microsoft.com/office/drawing/2014/main" id="{4794234A-D0C6-9A67-C01C-758F3D5CD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2133600"/>
            <a:ext cx="0" cy="2159000"/>
          </a:xfrm>
          <a:prstGeom prst="lin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52245" name="Picture 7" descr="juntas en edificios">
            <a:extLst>
              <a:ext uri="{FF2B5EF4-FFF2-40B4-BE49-F238E27FC236}">
                <a16:creationId xmlns:a16="http://schemas.microsoft.com/office/drawing/2014/main" id="{C86143DB-E2BC-B078-10AF-E04DE5AD9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6" t="74568" r="47144" b="9126"/>
          <a:stretch>
            <a:fillRect/>
          </a:stretch>
        </p:blipFill>
        <p:spPr bwMode="auto">
          <a:xfrm>
            <a:off x="6456363" y="3284538"/>
            <a:ext cx="3960812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6" name="Rectangle 89">
            <a:extLst>
              <a:ext uri="{FF2B5EF4-FFF2-40B4-BE49-F238E27FC236}">
                <a16:creationId xmlns:a16="http://schemas.microsoft.com/office/drawing/2014/main" id="{D5C9C212-7F06-83D1-B78F-CA9B7F07C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4652963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7" name="Rectangle 90">
            <a:extLst>
              <a:ext uri="{FF2B5EF4-FFF2-40B4-BE49-F238E27FC236}">
                <a16:creationId xmlns:a16="http://schemas.microsoft.com/office/drawing/2014/main" id="{4325AAE3-F046-A1BE-DDCD-D8B77668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6021388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8" name="Rectangle 91">
            <a:extLst>
              <a:ext uri="{FF2B5EF4-FFF2-40B4-BE49-F238E27FC236}">
                <a16:creationId xmlns:a16="http://schemas.microsoft.com/office/drawing/2014/main" id="{D99E49C6-A2DA-E041-619D-1CF88032C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4652963"/>
            <a:ext cx="217488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9" name="Rectangle 92">
            <a:extLst>
              <a:ext uri="{FF2B5EF4-FFF2-40B4-BE49-F238E27FC236}">
                <a16:creationId xmlns:a16="http://schemas.microsoft.com/office/drawing/2014/main" id="{0F9EC2BF-E4C1-F999-54D9-7F76558F3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9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0" name="Rectangle 93">
            <a:extLst>
              <a:ext uri="{FF2B5EF4-FFF2-40B4-BE49-F238E27FC236}">
                <a16:creationId xmlns:a16="http://schemas.microsoft.com/office/drawing/2014/main" id="{1CA248F2-F752-BB2D-7E86-35C1AAF0C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652963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1" name="Rectangle 94">
            <a:extLst>
              <a:ext uri="{FF2B5EF4-FFF2-40B4-BE49-F238E27FC236}">
                <a16:creationId xmlns:a16="http://schemas.microsoft.com/office/drawing/2014/main" id="{1FE7B734-ACDD-4FF9-AA4A-026A2342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2" name="Line 95">
            <a:extLst>
              <a:ext uri="{FF2B5EF4-FFF2-40B4-BE49-F238E27FC236}">
                <a16:creationId xmlns:a16="http://schemas.microsoft.com/office/drawing/2014/main" id="{FF2442D0-28ED-8BE0-48A1-641EFA986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6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3" name="Line 96">
            <a:extLst>
              <a:ext uri="{FF2B5EF4-FFF2-40B4-BE49-F238E27FC236}">
                <a16:creationId xmlns:a16="http://schemas.microsoft.com/office/drawing/2014/main" id="{E55CAAFD-2F85-258E-0CDF-C58A5BF6C8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5626" y="5373689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4" name="Line 97">
            <a:extLst>
              <a:ext uri="{FF2B5EF4-FFF2-40B4-BE49-F238E27FC236}">
                <a16:creationId xmlns:a16="http://schemas.microsoft.com/office/drawing/2014/main" id="{25B69F19-A3F5-CB92-6660-D06C771669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788" y="5446714"/>
            <a:ext cx="1444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5" name="Line 98">
            <a:extLst>
              <a:ext uri="{FF2B5EF4-FFF2-40B4-BE49-F238E27FC236}">
                <a16:creationId xmlns:a16="http://schemas.microsoft.com/office/drawing/2014/main" id="{A3135CD9-2363-6943-6CF5-86EC2EFE6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2889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6" name="Line 99">
            <a:extLst>
              <a:ext uri="{FF2B5EF4-FFF2-40B4-BE49-F238E27FC236}">
                <a16:creationId xmlns:a16="http://schemas.microsoft.com/office/drawing/2014/main" id="{2EA02F82-73BD-02E8-A258-F318CD542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2888" y="5373689"/>
            <a:ext cx="1444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7" name="Line 100">
            <a:extLst>
              <a:ext uri="{FF2B5EF4-FFF2-40B4-BE49-F238E27FC236}">
                <a16:creationId xmlns:a16="http://schemas.microsoft.com/office/drawing/2014/main" id="{1A51EF0A-3E06-A883-5269-093D427F4D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1" y="5446714"/>
            <a:ext cx="144463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8" name="Rectangle 101">
            <a:extLst>
              <a:ext uri="{FF2B5EF4-FFF2-40B4-BE49-F238E27FC236}">
                <a16:creationId xmlns:a16="http://schemas.microsoft.com/office/drawing/2014/main" id="{E1455CBB-F48D-089F-898F-AB1E6679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9" name="Rectangle 102">
            <a:extLst>
              <a:ext uri="{FF2B5EF4-FFF2-40B4-BE49-F238E27FC236}">
                <a16:creationId xmlns:a16="http://schemas.microsoft.com/office/drawing/2014/main" id="{459BD82F-C307-88A9-7153-42AB897F8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0" name="Rectangle 103">
            <a:extLst>
              <a:ext uri="{FF2B5EF4-FFF2-40B4-BE49-F238E27FC236}">
                <a16:creationId xmlns:a16="http://schemas.microsoft.com/office/drawing/2014/main" id="{C0714B39-71FE-1393-06CD-93AE6446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868864"/>
            <a:ext cx="71438" cy="11509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1" name="Rectangle 104">
            <a:extLst>
              <a:ext uri="{FF2B5EF4-FFF2-40B4-BE49-F238E27FC236}">
                <a16:creationId xmlns:a16="http://schemas.microsoft.com/office/drawing/2014/main" id="{3FC6214C-4708-CF6C-339E-2C271285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870450"/>
            <a:ext cx="71437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2" name="Line 105">
            <a:extLst>
              <a:ext uri="{FF2B5EF4-FFF2-40B4-BE49-F238E27FC236}">
                <a16:creationId xmlns:a16="http://schemas.microsoft.com/office/drawing/2014/main" id="{141B3293-9BBF-B7E7-F853-F21A97295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868864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4FCA00-80A4-E915-8ED1-814E8E08C2E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4D1671F-0038-71DD-4DB2-ED94D853F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C3DE-5F95-1AAB-3DA2-2881F838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>
            <a:extLst>
              <a:ext uri="{FF2B5EF4-FFF2-40B4-BE49-F238E27FC236}">
                <a16:creationId xmlns:a16="http://schemas.microsoft.com/office/drawing/2014/main" id="{92A847DF-41F2-C261-D51F-3BE96F86DD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2239" name="Rectangle 17">
            <a:extLst>
              <a:ext uri="{FF2B5EF4-FFF2-40B4-BE49-F238E27FC236}">
                <a16:creationId xmlns:a16="http://schemas.microsoft.com/office/drawing/2014/main" id="{39D9DE63-4B02-269D-8BF6-6A41F58B6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0" name="Rectangle 18">
            <a:extLst>
              <a:ext uri="{FF2B5EF4-FFF2-40B4-BE49-F238E27FC236}">
                <a16:creationId xmlns:a16="http://schemas.microsoft.com/office/drawing/2014/main" id="{8555A494-9309-C51D-96B4-18D8F70BF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543" y="745427"/>
            <a:ext cx="6070893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52241" name="Rectangle 19">
            <a:extLst>
              <a:ext uri="{FF2B5EF4-FFF2-40B4-BE49-F238E27FC236}">
                <a16:creationId xmlns:a16="http://schemas.microsoft.com/office/drawing/2014/main" id="{FBFA221B-44EA-03BC-5970-46A13CB0C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239" y="747916"/>
            <a:ext cx="38856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>
                <a:solidFill>
                  <a:srgbClr val="C00000"/>
                </a:solidFill>
              </a:rPr>
              <a:t>SOLUCIÓN 1 . La viga se interrumpe en el soporte</a:t>
            </a:r>
          </a:p>
        </p:txBody>
      </p:sp>
      <p:sp>
        <p:nvSpPr>
          <p:cNvPr id="52242" name="Rectangle 20">
            <a:extLst>
              <a:ext uri="{FF2B5EF4-FFF2-40B4-BE49-F238E27FC236}">
                <a16:creationId xmlns:a16="http://schemas.microsoft.com/office/drawing/2014/main" id="{FE5C3EAE-FE09-1883-4D10-B20F42F4D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20938"/>
            <a:ext cx="5545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/>
              <a:t>- Doble viga: Se duplican las vigas/carreras y se dispone una de ellas con apoyo deslizante en su unión al soporte</a:t>
            </a:r>
          </a:p>
        </p:txBody>
      </p:sp>
      <p:pic>
        <p:nvPicPr>
          <p:cNvPr id="52243" name="Picture 85">
            <a:extLst>
              <a:ext uri="{FF2B5EF4-FFF2-40B4-BE49-F238E27FC236}">
                <a16:creationId xmlns:a16="http://schemas.microsoft.com/office/drawing/2014/main" id="{E7ED07AC-262A-7A7B-BC2E-6C4C18FDA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276476"/>
            <a:ext cx="18002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4" name="Line 86">
            <a:extLst>
              <a:ext uri="{FF2B5EF4-FFF2-40B4-BE49-F238E27FC236}">
                <a16:creationId xmlns:a16="http://schemas.microsoft.com/office/drawing/2014/main" id="{9CCCD0A3-FC4B-B5F2-8C58-F37E177E4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2133600"/>
            <a:ext cx="0" cy="2159000"/>
          </a:xfrm>
          <a:prstGeom prst="lin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52245" name="Picture 7" descr="juntas en edificios">
            <a:extLst>
              <a:ext uri="{FF2B5EF4-FFF2-40B4-BE49-F238E27FC236}">
                <a16:creationId xmlns:a16="http://schemas.microsoft.com/office/drawing/2014/main" id="{B18451F3-14A5-65B4-0834-5C126A71B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6" t="74568" r="47144" b="9126"/>
          <a:stretch>
            <a:fillRect/>
          </a:stretch>
        </p:blipFill>
        <p:spPr bwMode="auto">
          <a:xfrm>
            <a:off x="6456363" y="3284538"/>
            <a:ext cx="3960812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6" name="Rectangle 89">
            <a:extLst>
              <a:ext uri="{FF2B5EF4-FFF2-40B4-BE49-F238E27FC236}">
                <a16:creationId xmlns:a16="http://schemas.microsoft.com/office/drawing/2014/main" id="{A74CF46A-BB9E-5224-BA2D-EF161782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4652963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7" name="Rectangle 90">
            <a:extLst>
              <a:ext uri="{FF2B5EF4-FFF2-40B4-BE49-F238E27FC236}">
                <a16:creationId xmlns:a16="http://schemas.microsoft.com/office/drawing/2014/main" id="{4C766A1F-7F4C-4292-AAF1-8E7952A59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6021388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8" name="Rectangle 91">
            <a:extLst>
              <a:ext uri="{FF2B5EF4-FFF2-40B4-BE49-F238E27FC236}">
                <a16:creationId xmlns:a16="http://schemas.microsoft.com/office/drawing/2014/main" id="{9BDB3BA3-2987-4837-560F-B9AE51A9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4652963"/>
            <a:ext cx="217488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9" name="Rectangle 92">
            <a:extLst>
              <a:ext uri="{FF2B5EF4-FFF2-40B4-BE49-F238E27FC236}">
                <a16:creationId xmlns:a16="http://schemas.microsoft.com/office/drawing/2014/main" id="{9AEEBDF3-E8E3-7E54-40CE-FFF81E26B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9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0" name="Rectangle 93">
            <a:extLst>
              <a:ext uri="{FF2B5EF4-FFF2-40B4-BE49-F238E27FC236}">
                <a16:creationId xmlns:a16="http://schemas.microsoft.com/office/drawing/2014/main" id="{2A5ACCBA-E2D1-3F2E-E7F8-08277EDF6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652963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1" name="Rectangle 94">
            <a:extLst>
              <a:ext uri="{FF2B5EF4-FFF2-40B4-BE49-F238E27FC236}">
                <a16:creationId xmlns:a16="http://schemas.microsoft.com/office/drawing/2014/main" id="{9572E6E6-488C-115C-184D-6B90B547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2" name="Line 95">
            <a:extLst>
              <a:ext uri="{FF2B5EF4-FFF2-40B4-BE49-F238E27FC236}">
                <a16:creationId xmlns:a16="http://schemas.microsoft.com/office/drawing/2014/main" id="{5957E017-CFFC-99DA-D62C-915A46D5B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6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3" name="Line 96">
            <a:extLst>
              <a:ext uri="{FF2B5EF4-FFF2-40B4-BE49-F238E27FC236}">
                <a16:creationId xmlns:a16="http://schemas.microsoft.com/office/drawing/2014/main" id="{1FD15BAD-EFF0-C9A0-6EA6-62E092DE1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5626" y="5373689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4" name="Line 97">
            <a:extLst>
              <a:ext uri="{FF2B5EF4-FFF2-40B4-BE49-F238E27FC236}">
                <a16:creationId xmlns:a16="http://schemas.microsoft.com/office/drawing/2014/main" id="{8C405285-60A9-F72B-CB5A-456FB741EE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788" y="5446714"/>
            <a:ext cx="1444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5" name="Line 98">
            <a:extLst>
              <a:ext uri="{FF2B5EF4-FFF2-40B4-BE49-F238E27FC236}">
                <a16:creationId xmlns:a16="http://schemas.microsoft.com/office/drawing/2014/main" id="{377A852B-5E08-AD88-A35B-392991B0F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2889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6" name="Line 99">
            <a:extLst>
              <a:ext uri="{FF2B5EF4-FFF2-40B4-BE49-F238E27FC236}">
                <a16:creationId xmlns:a16="http://schemas.microsoft.com/office/drawing/2014/main" id="{F0A9D13D-F627-6379-7101-DE04F2C3E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2888" y="5373689"/>
            <a:ext cx="1444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7" name="Line 100">
            <a:extLst>
              <a:ext uri="{FF2B5EF4-FFF2-40B4-BE49-F238E27FC236}">
                <a16:creationId xmlns:a16="http://schemas.microsoft.com/office/drawing/2014/main" id="{13FF8556-558A-1957-BD7D-082C53750B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1" y="5446714"/>
            <a:ext cx="144463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8" name="Rectangle 101">
            <a:extLst>
              <a:ext uri="{FF2B5EF4-FFF2-40B4-BE49-F238E27FC236}">
                <a16:creationId xmlns:a16="http://schemas.microsoft.com/office/drawing/2014/main" id="{AF87DE57-39D9-C646-14C1-33BE722DD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9" name="Rectangle 102">
            <a:extLst>
              <a:ext uri="{FF2B5EF4-FFF2-40B4-BE49-F238E27FC236}">
                <a16:creationId xmlns:a16="http://schemas.microsoft.com/office/drawing/2014/main" id="{FBB68F52-F681-DD45-B153-228F8059A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0" name="Rectangle 103">
            <a:extLst>
              <a:ext uri="{FF2B5EF4-FFF2-40B4-BE49-F238E27FC236}">
                <a16:creationId xmlns:a16="http://schemas.microsoft.com/office/drawing/2014/main" id="{A06DFDE3-2BA0-30B4-E836-FDAEBDA5A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868864"/>
            <a:ext cx="71438" cy="11509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1" name="Rectangle 104">
            <a:extLst>
              <a:ext uri="{FF2B5EF4-FFF2-40B4-BE49-F238E27FC236}">
                <a16:creationId xmlns:a16="http://schemas.microsoft.com/office/drawing/2014/main" id="{F94C795A-8E69-9EB8-32AA-A51ABA852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870450"/>
            <a:ext cx="71437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2" name="Line 105">
            <a:extLst>
              <a:ext uri="{FF2B5EF4-FFF2-40B4-BE49-F238E27FC236}">
                <a16:creationId xmlns:a16="http://schemas.microsoft.com/office/drawing/2014/main" id="{36860139-F562-3D79-0956-0945B41F2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868864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5780AC2-A1FE-972E-A4D3-04062F7D504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6512F96-FCD9-ED69-4E10-93C109F7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CF1D68-4406-CEA2-A511-D9FAE0E3C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731" y="1394247"/>
            <a:ext cx="9213882" cy="5378396"/>
          </a:xfrm>
          <a:prstGeom prst="rect">
            <a:avLst/>
          </a:prstGeom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3F7B3E3D-5EDC-CBB0-7D27-EB96F49B4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350" y="770405"/>
            <a:ext cx="15565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Único pilar </a:t>
            </a:r>
            <a:endParaRPr lang="es-ES" altLang="es-ES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137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3726-4246-7C8F-BAF5-C60F27F1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>
            <a:extLst>
              <a:ext uri="{FF2B5EF4-FFF2-40B4-BE49-F238E27FC236}">
                <a16:creationId xmlns:a16="http://schemas.microsoft.com/office/drawing/2014/main" id="{B42924CB-01A5-694D-43C4-238A25D7152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2239" name="Rectangle 17">
            <a:extLst>
              <a:ext uri="{FF2B5EF4-FFF2-40B4-BE49-F238E27FC236}">
                <a16:creationId xmlns:a16="http://schemas.microsoft.com/office/drawing/2014/main" id="{0AD13168-ABF4-DCBD-62E8-06F2D2417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844676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0" name="Rectangle 18">
            <a:extLst>
              <a:ext uri="{FF2B5EF4-FFF2-40B4-BE49-F238E27FC236}">
                <a16:creationId xmlns:a16="http://schemas.microsoft.com/office/drawing/2014/main" id="{B63F4075-78BE-CAFC-455D-E5443EDB3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0830"/>
            <a:ext cx="6070893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52242" name="Rectangle 20">
            <a:extLst>
              <a:ext uri="{FF2B5EF4-FFF2-40B4-BE49-F238E27FC236}">
                <a16:creationId xmlns:a16="http://schemas.microsoft.com/office/drawing/2014/main" id="{29CF8824-50D4-E1E7-A7E3-B664A5EDB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20938"/>
            <a:ext cx="5545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/>
              <a:t>- Doble viga: Se duplican las vigas/carreras y se dispone una de ellas con apoyo deslizante en su unión al soporte</a:t>
            </a:r>
          </a:p>
        </p:txBody>
      </p:sp>
      <p:pic>
        <p:nvPicPr>
          <p:cNvPr id="52243" name="Picture 85">
            <a:extLst>
              <a:ext uri="{FF2B5EF4-FFF2-40B4-BE49-F238E27FC236}">
                <a16:creationId xmlns:a16="http://schemas.microsoft.com/office/drawing/2014/main" id="{99BD6ABD-623C-3D97-C11A-5791403F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276476"/>
            <a:ext cx="18002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4" name="Line 86">
            <a:extLst>
              <a:ext uri="{FF2B5EF4-FFF2-40B4-BE49-F238E27FC236}">
                <a16:creationId xmlns:a16="http://schemas.microsoft.com/office/drawing/2014/main" id="{DFAEBC19-2490-902A-C62E-24D675AF4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2133600"/>
            <a:ext cx="0" cy="2159000"/>
          </a:xfrm>
          <a:prstGeom prst="lin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52245" name="Picture 7" descr="juntas en edificios">
            <a:extLst>
              <a:ext uri="{FF2B5EF4-FFF2-40B4-BE49-F238E27FC236}">
                <a16:creationId xmlns:a16="http://schemas.microsoft.com/office/drawing/2014/main" id="{7E48FC99-424B-E964-2EBC-A8F4C6AF8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6" t="74568" r="47144" b="9126"/>
          <a:stretch>
            <a:fillRect/>
          </a:stretch>
        </p:blipFill>
        <p:spPr bwMode="auto">
          <a:xfrm>
            <a:off x="6456363" y="3284538"/>
            <a:ext cx="3960812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6" name="Rectangle 89">
            <a:extLst>
              <a:ext uri="{FF2B5EF4-FFF2-40B4-BE49-F238E27FC236}">
                <a16:creationId xmlns:a16="http://schemas.microsoft.com/office/drawing/2014/main" id="{AE8935D0-E297-2328-3EC6-8033DAD7C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4652963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7" name="Rectangle 90">
            <a:extLst>
              <a:ext uri="{FF2B5EF4-FFF2-40B4-BE49-F238E27FC236}">
                <a16:creationId xmlns:a16="http://schemas.microsoft.com/office/drawing/2014/main" id="{64895C82-BA55-ECF3-7264-F5C6978C4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6021388"/>
            <a:ext cx="431800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8" name="Rectangle 91">
            <a:extLst>
              <a:ext uri="{FF2B5EF4-FFF2-40B4-BE49-F238E27FC236}">
                <a16:creationId xmlns:a16="http://schemas.microsoft.com/office/drawing/2014/main" id="{8149972E-85FA-8B62-1445-58621150A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4652963"/>
            <a:ext cx="217488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49" name="Rectangle 92">
            <a:extLst>
              <a:ext uri="{FF2B5EF4-FFF2-40B4-BE49-F238E27FC236}">
                <a16:creationId xmlns:a16="http://schemas.microsoft.com/office/drawing/2014/main" id="{D39E18D3-E0CF-846C-F0F5-0EED349C8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9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0" name="Rectangle 93">
            <a:extLst>
              <a:ext uri="{FF2B5EF4-FFF2-40B4-BE49-F238E27FC236}">
                <a16:creationId xmlns:a16="http://schemas.microsoft.com/office/drawing/2014/main" id="{F78A3A9B-FC6E-0DF6-300D-97D44971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652963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1" name="Rectangle 94">
            <a:extLst>
              <a:ext uri="{FF2B5EF4-FFF2-40B4-BE49-F238E27FC236}">
                <a16:creationId xmlns:a16="http://schemas.microsoft.com/office/drawing/2014/main" id="{AA5E476B-C2C6-A29B-A28F-927F4D745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6021388"/>
            <a:ext cx="217487" cy="2159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2" name="Line 95">
            <a:extLst>
              <a:ext uri="{FF2B5EF4-FFF2-40B4-BE49-F238E27FC236}">
                <a16:creationId xmlns:a16="http://schemas.microsoft.com/office/drawing/2014/main" id="{20561BA9-3E3C-294B-353C-D712F23EB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6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3" name="Line 96">
            <a:extLst>
              <a:ext uri="{FF2B5EF4-FFF2-40B4-BE49-F238E27FC236}">
                <a16:creationId xmlns:a16="http://schemas.microsoft.com/office/drawing/2014/main" id="{06C49F28-25B1-B4E2-0CA9-E31FD18C12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5626" y="5373689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4" name="Line 97">
            <a:extLst>
              <a:ext uri="{FF2B5EF4-FFF2-40B4-BE49-F238E27FC236}">
                <a16:creationId xmlns:a16="http://schemas.microsoft.com/office/drawing/2014/main" id="{0798F9C6-5755-273C-F41E-F32A072792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788" y="5446714"/>
            <a:ext cx="1444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5" name="Line 98">
            <a:extLst>
              <a:ext uri="{FF2B5EF4-FFF2-40B4-BE49-F238E27FC236}">
                <a16:creationId xmlns:a16="http://schemas.microsoft.com/office/drawing/2014/main" id="{A7E8CEB2-B536-BD8F-CFEF-502FF3113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2889" y="544671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6" name="Line 99">
            <a:extLst>
              <a:ext uri="{FF2B5EF4-FFF2-40B4-BE49-F238E27FC236}">
                <a16:creationId xmlns:a16="http://schemas.microsoft.com/office/drawing/2014/main" id="{30F8F185-12E3-5CA6-5B50-659858C0AB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2888" y="5373689"/>
            <a:ext cx="1444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7" name="Line 100">
            <a:extLst>
              <a:ext uri="{FF2B5EF4-FFF2-40B4-BE49-F238E27FC236}">
                <a16:creationId xmlns:a16="http://schemas.microsoft.com/office/drawing/2014/main" id="{520B8DA0-6982-0D98-9280-20F7D0FE88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1" y="5446714"/>
            <a:ext cx="144463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52258" name="Rectangle 101">
            <a:extLst>
              <a:ext uri="{FF2B5EF4-FFF2-40B4-BE49-F238E27FC236}">
                <a16:creationId xmlns:a16="http://schemas.microsoft.com/office/drawing/2014/main" id="{D5AB8DC7-03A4-4A48-EC16-6E9CD5B1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59" name="Rectangle 102">
            <a:extLst>
              <a:ext uri="{FF2B5EF4-FFF2-40B4-BE49-F238E27FC236}">
                <a16:creationId xmlns:a16="http://schemas.microsoft.com/office/drawing/2014/main" id="{4CD728B0-AEEE-CCC1-9817-1426CDCC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4870450"/>
            <a:ext cx="71438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0" name="Rectangle 103">
            <a:extLst>
              <a:ext uri="{FF2B5EF4-FFF2-40B4-BE49-F238E27FC236}">
                <a16:creationId xmlns:a16="http://schemas.microsoft.com/office/drawing/2014/main" id="{06F186C5-70B2-31B2-D764-5C1DAA3D6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868864"/>
            <a:ext cx="71438" cy="11509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1" name="Rectangle 104">
            <a:extLst>
              <a:ext uri="{FF2B5EF4-FFF2-40B4-BE49-F238E27FC236}">
                <a16:creationId xmlns:a16="http://schemas.microsoft.com/office/drawing/2014/main" id="{E5F6F4D9-B19C-0DC8-8FFF-1AC1EE34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870450"/>
            <a:ext cx="71437" cy="11509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2262" name="Line 105">
            <a:extLst>
              <a:ext uri="{FF2B5EF4-FFF2-40B4-BE49-F238E27FC236}">
                <a16:creationId xmlns:a16="http://schemas.microsoft.com/office/drawing/2014/main" id="{E49C0D10-73AD-522B-0200-3E2B89A6C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868864"/>
            <a:ext cx="0" cy="11525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6A6A7D2-6052-9CE5-CF39-1AF6BFEF1AD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6568B7A-BB70-3506-B89B-178DD5B4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EE95E4-AD9F-E6BD-ADF5-9EDF51227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232" y="1331576"/>
            <a:ext cx="9172506" cy="5359889"/>
          </a:xfrm>
          <a:prstGeom prst="rect">
            <a:avLst/>
          </a:prstGeom>
        </p:spPr>
      </p:pic>
      <p:sp>
        <p:nvSpPr>
          <p:cNvPr id="7" name="Rectangle 19">
            <a:extLst>
              <a:ext uri="{FF2B5EF4-FFF2-40B4-BE49-F238E27FC236}">
                <a16:creationId xmlns:a16="http://schemas.microsoft.com/office/drawing/2014/main" id="{9603D972-09AC-8385-024E-C6645A7D4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769" y="685245"/>
            <a:ext cx="37531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 </a:t>
            </a:r>
            <a:r>
              <a:rPr lang="es-ES" altLang="es-ES" sz="1800" b="1" dirty="0">
                <a:solidFill>
                  <a:srgbClr val="C00000"/>
                </a:solidFill>
              </a:rPr>
              <a:t>SOLUCIÓN 2 . Vigas pasantes a ambos lados del pilar.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B67B3683-45C8-624F-C0C6-E22ED970C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350" y="770405"/>
            <a:ext cx="15565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Único pilar </a:t>
            </a:r>
            <a:endParaRPr lang="es-ES" altLang="es-ES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880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>
            <a:extLst>
              <a:ext uri="{FF2B5EF4-FFF2-40B4-BE49-F238E27FC236}">
                <a16:creationId xmlns:a16="http://schemas.microsoft.com/office/drawing/2014/main" id="{E7147271-EA9D-CBFC-F9C4-15F1E335E14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3262" name="Rectangle 2">
            <a:extLst>
              <a:ext uri="{FF2B5EF4-FFF2-40B4-BE49-F238E27FC236}">
                <a16:creationId xmlns:a16="http://schemas.microsoft.com/office/drawing/2014/main" id="{02F44D0D-D047-83D7-C366-AD7D5D2BE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53263" name="Rectangle 17">
            <a:extLst>
              <a:ext uri="{FF2B5EF4-FFF2-40B4-BE49-F238E27FC236}">
                <a16:creationId xmlns:a16="http://schemas.microsoft.com/office/drawing/2014/main" id="{6783D602-B533-9508-1F86-B6041E1E6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700213"/>
            <a:ext cx="8280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3264" name="Rectangle 18">
            <a:extLst>
              <a:ext uri="{FF2B5EF4-FFF2-40B4-BE49-F238E27FC236}">
                <a16:creationId xmlns:a16="http://schemas.microsoft.com/office/drawing/2014/main" id="{5BECBCF0-A231-A596-810D-7EFD5F368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1773239"/>
            <a:ext cx="5514975" cy="320675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>
                <a:solidFill>
                  <a:srgbClr val="800000"/>
                </a:solidFill>
              </a:rPr>
              <a:t>Juntas perpendiculares a la dirección de forjado.</a:t>
            </a:r>
          </a:p>
        </p:txBody>
      </p:sp>
      <p:sp>
        <p:nvSpPr>
          <p:cNvPr id="53265" name="Rectangle 22">
            <a:extLst>
              <a:ext uri="{FF2B5EF4-FFF2-40B4-BE49-F238E27FC236}">
                <a16:creationId xmlns:a16="http://schemas.microsoft.com/office/drawing/2014/main" id="{0FB9CFE9-AAD7-F7C6-B569-8C2690E21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3" y="1773238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/>
              <a:t>Único pilar</a:t>
            </a:r>
          </a:p>
        </p:txBody>
      </p:sp>
      <p:pic>
        <p:nvPicPr>
          <p:cNvPr id="53266" name="Picture 44">
            <a:extLst>
              <a:ext uri="{FF2B5EF4-FFF2-40B4-BE49-F238E27FC236}">
                <a16:creationId xmlns:a16="http://schemas.microsoft.com/office/drawing/2014/main" id="{CBF6DB9E-0677-4A68-1590-2144BDD14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2205039"/>
            <a:ext cx="2058987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7" name="Rectangle 46">
            <a:extLst>
              <a:ext uri="{FF2B5EF4-FFF2-40B4-BE49-F238E27FC236}">
                <a16:creationId xmlns:a16="http://schemas.microsoft.com/office/drawing/2014/main" id="{FBD3B5B7-B643-D306-BCCF-E6330923F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2492375"/>
            <a:ext cx="5327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/>
              <a:t>-   Viga única: se resuelve disponiendo en la unión forjado-viga apoyos deslizantes</a:t>
            </a:r>
          </a:p>
        </p:txBody>
      </p:sp>
      <p:grpSp>
        <p:nvGrpSpPr>
          <p:cNvPr id="53268" name="Group 68">
            <a:extLst>
              <a:ext uri="{FF2B5EF4-FFF2-40B4-BE49-F238E27FC236}">
                <a16:creationId xmlns:a16="http://schemas.microsoft.com/office/drawing/2014/main" id="{68570AAD-EE77-6B79-0215-B308F0AE1A01}"/>
              </a:ext>
            </a:extLst>
          </p:cNvPr>
          <p:cNvGrpSpPr>
            <a:grpSpLocks/>
          </p:cNvGrpSpPr>
          <p:nvPr/>
        </p:nvGrpSpPr>
        <p:grpSpPr bwMode="auto">
          <a:xfrm>
            <a:off x="2782889" y="4724401"/>
            <a:ext cx="3241675" cy="1782763"/>
            <a:chOff x="793" y="2931"/>
            <a:chExt cx="1815" cy="998"/>
          </a:xfrm>
        </p:grpSpPr>
        <p:sp>
          <p:nvSpPr>
            <p:cNvPr id="53271" name="Rectangle 47">
              <a:extLst>
                <a:ext uri="{FF2B5EF4-FFF2-40B4-BE49-F238E27FC236}">
                  <a16:creationId xmlns:a16="http://schemas.microsoft.com/office/drawing/2014/main" id="{021CA4EC-ED18-7B0C-84AF-FC2EE4173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2931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2" name="Rectangle 48">
              <a:extLst>
                <a:ext uri="{FF2B5EF4-FFF2-40B4-BE49-F238E27FC236}">
                  <a16:creationId xmlns:a16="http://schemas.microsoft.com/office/drawing/2014/main" id="{084D5B80-6261-C13D-A361-CD9A0B702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3793"/>
              <a:ext cx="136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3" name="Rectangle 49">
              <a:extLst>
                <a:ext uri="{FF2B5EF4-FFF2-40B4-BE49-F238E27FC236}">
                  <a16:creationId xmlns:a16="http://schemas.microsoft.com/office/drawing/2014/main" id="{B5DA4A83-84AB-8B62-FB95-779642A31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4" name="Rectangle 50">
              <a:extLst>
                <a:ext uri="{FF2B5EF4-FFF2-40B4-BE49-F238E27FC236}">
                  <a16:creationId xmlns:a16="http://schemas.microsoft.com/office/drawing/2014/main" id="{862C7FE7-8ACE-C9F6-5141-05F43E535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5" name="Rectangle 51">
              <a:extLst>
                <a:ext uri="{FF2B5EF4-FFF2-40B4-BE49-F238E27FC236}">
                  <a16:creationId xmlns:a16="http://schemas.microsoft.com/office/drawing/2014/main" id="{3B411529-5EE9-E3BB-DE6B-413029CEC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931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6" name="Rectangle 52">
              <a:extLst>
                <a:ext uri="{FF2B5EF4-FFF2-40B4-BE49-F238E27FC236}">
                  <a16:creationId xmlns:a16="http://schemas.microsoft.com/office/drawing/2014/main" id="{D8D13B09-C1AB-6E45-B6FC-A7325B5CB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3793"/>
              <a:ext cx="137" cy="136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77" name="Line 53">
              <a:extLst>
                <a:ext uri="{FF2B5EF4-FFF2-40B4-BE49-F238E27FC236}">
                  <a16:creationId xmlns:a16="http://schemas.microsoft.com/office/drawing/2014/main" id="{D6D9DC40-D110-FE2C-92C3-9BF47CFFA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5" y="3431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78" name="Line 54">
              <a:extLst>
                <a:ext uri="{FF2B5EF4-FFF2-40B4-BE49-F238E27FC236}">
                  <a16:creationId xmlns:a16="http://schemas.microsoft.com/office/drawing/2014/main" id="{349709F1-699B-82EB-0112-D15B2F82E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5" y="3385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79" name="Line 55">
              <a:extLst>
                <a:ext uri="{FF2B5EF4-FFF2-40B4-BE49-F238E27FC236}">
                  <a16:creationId xmlns:a16="http://schemas.microsoft.com/office/drawing/2014/main" id="{AA2432B8-7431-F10C-39ED-386312282A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4" y="3431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80" name="Line 56">
              <a:extLst>
                <a:ext uri="{FF2B5EF4-FFF2-40B4-BE49-F238E27FC236}">
                  <a16:creationId xmlns:a16="http://schemas.microsoft.com/office/drawing/2014/main" id="{C333F91D-B9AE-6BA2-B4C0-5A5CC61FB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431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81" name="Line 57">
              <a:extLst>
                <a:ext uri="{FF2B5EF4-FFF2-40B4-BE49-F238E27FC236}">
                  <a16:creationId xmlns:a16="http://schemas.microsoft.com/office/drawing/2014/main" id="{2B8888AF-6342-779F-36E6-4C62993E0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9" y="3385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82" name="Line 58">
              <a:extLst>
                <a:ext uri="{FF2B5EF4-FFF2-40B4-BE49-F238E27FC236}">
                  <a16:creationId xmlns:a16="http://schemas.microsoft.com/office/drawing/2014/main" id="{9E6D3137-3E04-7FE9-66CE-6C864362F8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8" y="3431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283" name="Rectangle 59">
              <a:extLst>
                <a:ext uri="{FF2B5EF4-FFF2-40B4-BE49-F238E27FC236}">
                  <a16:creationId xmlns:a16="http://schemas.microsoft.com/office/drawing/2014/main" id="{CCF65A21-51F9-A6FE-E1A0-2F7D8C9EA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068"/>
              <a:ext cx="45" cy="72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84" name="Rectangle 60">
              <a:extLst>
                <a:ext uri="{FF2B5EF4-FFF2-40B4-BE49-F238E27FC236}">
                  <a16:creationId xmlns:a16="http://schemas.microsoft.com/office/drawing/2014/main" id="{F98E6952-9E02-3419-CDFC-E190207BC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3068"/>
              <a:ext cx="45" cy="72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  <p:sp>
          <p:nvSpPr>
            <p:cNvPr id="53285" name="Rectangle 62">
              <a:extLst>
                <a:ext uri="{FF2B5EF4-FFF2-40B4-BE49-F238E27FC236}">
                  <a16:creationId xmlns:a16="http://schemas.microsoft.com/office/drawing/2014/main" id="{3E315E06-8E28-4566-B462-760AB098F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3068"/>
              <a:ext cx="45" cy="72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altLang="es-ES" sz="1800"/>
            </a:p>
          </p:txBody>
        </p:sp>
      </p:grpSp>
      <p:pic>
        <p:nvPicPr>
          <p:cNvPr id="53269" name="Picture 64">
            <a:extLst>
              <a:ext uri="{FF2B5EF4-FFF2-40B4-BE49-F238E27FC236}">
                <a16:creationId xmlns:a16="http://schemas.microsoft.com/office/drawing/2014/main" id="{58A3BED8-1BF8-B9FC-1194-9C279F1DF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3213100"/>
            <a:ext cx="292735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70" name="Line 69">
            <a:extLst>
              <a:ext uri="{FF2B5EF4-FFF2-40B4-BE49-F238E27FC236}">
                <a16:creationId xmlns:a16="http://schemas.microsoft.com/office/drawing/2014/main" id="{5FB9AF3A-10D1-CCF1-A174-5EFEC992E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4581525"/>
            <a:ext cx="0" cy="2160588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7150B4-4640-74E8-6A76-1ECE533E7BD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289097E-9E70-2357-4CC4-5F29EAF5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FFBA-7ED6-CE15-B87B-C9148936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>
            <a:extLst>
              <a:ext uri="{FF2B5EF4-FFF2-40B4-BE49-F238E27FC236}">
                <a16:creationId xmlns:a16="http://schemas.microsoft.com/office/drawing/2014/main" id="{B759A44E-F357-8B83-D723-24C0B175476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7406" y="370681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400">
                <a:solidFill>
                  <a:schemeClr val="bg1"/>
                </a:solidFill>
                <a:latin typeface="Tahoma" panose="020B0604030504040204" pitchFamily="34" charset="0"/>
              </a:rPr>
              <a:t>E.T.S.I.E</a:t>
            </a:r>
          </a:p>
        </p:txBody>
      </p:sp>
      <p:sp>
        <p:nvSpPr>
          <p:cNvPr id="53262" name="Rectangle 2">
            <a:extLst>
              <a:ext uri="{FF2B5EF4-FFF2-40B4-BE49-F238E27FC236}">
                <a16:creationId xmlns:a16="http://schemas.microsoft.com/office/drawing/2014/main" id="{74CF3DD4-5477-7BA4-359B-3526A50F4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836613"/>
            <a:ext cx="78486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s-ES" altLang="es-ES" sz="1400"/>
          </a:p>
          <a:p>
            <a:pPr eaLnBrk="1" hangingPunct="1">
              <a:buFontTx/>
              <a:buNone/>
            </a:pPr>
            <a:endParaRPr lang="es-ES" altLang="es-ES" sz="1400"/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s-ES" altLang="es-ES" sz="1400"/>
          </a:p>
        </p:txBody>
      </p:sp>
      <p:sp>
        <p:nvSpPr>
          <p:cNvPr id="53263" name="Rectangle 17">
            <a:extLst>
              <a:ext uri="{FF2B5EF4-FFF2-40B4-BE49-F238E27FC236}">
                <a16:creationId xmlns:a16="http://schemas.microsoft.com/office/drawing/2014/main" id="{7C9DA0B8-6703-EF32-4DC8-0048DBAA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700213"/>
            <a:ext cx="8280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endParaRPr lang="es-ES" altLang="es-ES" sz="1800"/>
          </a:p>
        </p:txBody>
      </p:sp>
      <p:sp>
        <p:nvSpPr>
          <p:cNvPr id="53264" name="Rectangle 18">
            <a:extLst>
              <a:ext uri="{FF2B5EF4-FFF2-40B4-BE49-F238E27FC236}">
                <a16:creationId xmlns:a16="http://schemas.microsoft.com/office/drawing/2014/main" id="{1A0FE5D8-0AA9-0A8F-DFF7-ED1293AFD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4" y="914877"/>
            <a:ext cx="4322530" cy="31393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altLang="es-ES" sz="1800" b="1" dirty="0">
                <a:solidFill>
                  <a:srgbClr val="800000"/>
                </a:solidFill>
              </a:rPr>
              <a:t>Juntas en arranque de CIMENTACIÓN</a:t>
            </a:r>
          </a:p>
        </p:txBody>
      </p:sp>
      <p:sp>
        <p:nvSpPr>
          <p:cNvPr id="53265" name="Rectangle 22">
            <a:extLst>
              <a:ext uri="{FF2B5EF4-FFF2-40B4-BE49-F238E27FC236}">
                <a16:creationId xmlns:a16="http://schemas.microsoft.com/office/drawing/2014/main" id="{70B1ECAA-FA17-C7A2-10E7-A035B4ADA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744" y="899081"/>
            <a:ext cx="1544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b="1" dirty="0"/>
              <a:t>DOBLE pilar</a:t>
            </a:r>
          </a:p>
        </p:txBody>
      </p:sp>
      <p:sp>
        <p:nvSpPr>
          <p:cNvPr id="53267" name="Rectangle 46">
            <a:extLst>
              <a:ext uri="{FF2B5EF4-FFF2-40B4-BE49-F238E27FC236}">
                <a16:creationId xmlns:a16="http://schemas.microsoft.com/office/drawing/2014/main" id="{51B6E9A4-FA1D-DC28-328A-72BC335B2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352" y="1392436"/>
            <a:ext cx="89804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400" dirty="0"/>
              <a:t>-   En la cimentación NO HAY JUNTA. Dos casos, una placa o doble placa (de asiento, reparto o nivelación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7775E7-E5E2-93E1-B0E5-4475DFDE19B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CIV_L3_ TIPOLOGIA ESTRUCTURAL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C2F2DBA-6814-8ADA-7FDB-6F6321B2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06"/>
            <a:ext cx="12192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AutoNum type="arabicPeriod"/>
            </a:pPr>
            <a:r>
              <a:rPr lang="es-ES" altLang="es-ES" sz="1600" b="1" dirty="0"/>
              <a:t>JUNTAS DE DILATACIÓN </a:t>
            </a:r>
            <a:r>
              <a:rPr lang="es-ES" altLang="es-ES" sz="1600" dirty="0"/>
              <a:t>EN ESTRUCTURAS METÁLICAS</a:t>
            </a:r>
          </a:p>
          <a:p>
            <a:pPr lvl="1" algn="ctr" eaLnBrk="1" hangingPunct="1">
              <a:lnSpc>
                <a:spcPct val="80000"/>
              </a:lnSpc>
              <a:buFontTx/>
              <a:buAutoNum type="arabicPeriod"/>
            </a:pPr>
            <a:endParaRPr lang="es-ES" altLang="es-ES" sz="1600" dirty="0"/>
          </a:p>
          <a:p>
            <a:pPr lvl="1" algn="ctr" eaLnBrk="1" hangingPunct="1">
              <a:lnSpc>
                <a:spcPct val="80000"/>
              </a:lnSpc>
            </a:pPr>
            <a:endParaRPr lang="es-ES" altLang="es-ES" sz="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BBBA11-FF31-5D5B-8DCB-1ABA2ED76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" y="1899207"/>
            <a:ext cx="7826418" cy="455715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C04FD1A-EA14-4803-7014-D235D4F6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068"/>
          <a:stretch>
            <a:fillRect/>
          </a:stretch>
        </p:blipFill>
        <p:spPr>
          <a:xfrm>
            <a:off x="8064176" y="1905075"/>
            <a:ext cx="4127824" cy="182719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E1E2149-694A-F402-45F7-8233D9D96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257" y="4360083"/>
            <a:ext cx="3787468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23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2965</Words>
  <Application>Microsoft Office PowerPoint</Application>
  <PresentationFormat>Panorámica</PresentationFormat>
  <Paragraphs>538</Paragraphs>
  <Slides>49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Aptos</vt:lpstr>
      <vt:lpstr>Aptos Display</vt:lpstr>
      <vt:lpstr>Arial</vt:lpstr>
      <vt:lpstr>Calibri</vt:lpstr>
      <vt:lpstr>Tahoma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Milagro Iborra Lucas</dc:creator>
  <cp:lastModifiedBy>Milagro Iborra Lucas</cp:lastModifiedBy>
  <cp:revision>2</cp:revision>
  <dcterms:created xsi:type="dcterms:W3CDTF">2025-01-24T14:27:33Z</dcterms:created>
  <dcterms:modified xsi:type="dcterms:W3CDTF">2025-07-14T12:18:40Z</dcterms:modified>
</cp:coreProperties>
</file>